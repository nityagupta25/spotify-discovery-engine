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music app perfects what to recommend; none give a reason to accept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isn't accuracy — Spotify already leads there. It's acceptance: engaged listeners won't press play on the unfamiliar.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78638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GAP — WHAT EACH APP OFFERS VS WHAT'S MISSING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24128"/>
          <a:ext cx="46177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1488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they offer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What's missing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D7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Spotify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Best-in-class recsys — Discover Weekly, DJ, Daylist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reason to trust a new pick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Apple Music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editorial curation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personal; no per-user 'why'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YouTube Music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Huge catalog + video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Recs echo history; weak long-tail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Gaana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 regional / Bollywood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 &amp; popularity-led discovery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JioSaavn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scale + podcasts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personalized narrative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889504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Even Spotify only serves the song — never a reason to try it.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029200" y="78638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SPOTIFY SOLVES THIS FIRST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029200" y="1042416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138928" y="10881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Biggest discovery surface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138928" y="130759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~675M MAU · 263M Premium — the most to gain from acceptance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029200" y="1645920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5138928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already solved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138928" y="1911096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recsys in market; the only frontier left is acceptance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029200" y="2249424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5138928" y="229514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Native, no cold-start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138928" y="251460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Three-layer trust (friend → taste-twin → AI) fits Search &amp; Home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228600" y="3200400"/>
            <a:ext cx="1481328" cy="658368"/>
          </a:xfrm>
          <a:prstGeom prst="roundRect">
            <a:avLst>
              <a:gd name="adj" fmla="val 8333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28600" y="324612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283464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listening is repeat / familiar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1801368" y="3200400"/>
            <a:ext cx="1481328" cy="658368"/>
          </a:xfrm>
          <a:prstGeom prst="roundRect">
            <a:avLst>
              <a:gd name="adj" fmla="val 8333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801368" y="324612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−12%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856232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diversity in 6 mo · Discover Weekly (research)</a:t>
            </a:r>
            <a:endParaRPr lang="en-US" sz="700" dirty="0"/>
          </a:p>
        </p:txBody>
      </p:sp>
      <p:sp>
        <p:nvSpPr>
          <p:cNvPr id="25" name="Shape 22"/>
          <p:cNvSpPr/>
          <p:nvPr/>
        </p:nvSpPr>
        <p:spPr>
          <a:xfrm>
            <a:off x="3374136" y="3200400"/>
            <a:ext cx="1481328" cy="658368"/>
          </a:xfrm>
          <a:prstGeom prst="roundRect">
            <a:avLst>
              <a:gd name="adj" fmla="val 8333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374136" y="324612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3429000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say recs feel 'stale / looping'</a:t>
            </a:r>
            <a:endParaRPr lang="en-US" sz="700" dirty="0"/>
          </a:p>
        </p:txBody>
      </p:sp>
      <p:sp>
        <p:nvSpPr>
          <p:cNvPr id="28" name="Shape 25"/>
          <p:cNvSpPr/>
          <p:nvPr/>
        </p:nvSpPr>
        <p:spPr>
          <a:xfrm>
            <a:off x="4892040" y="3200400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29" name="Text 26"/>
          <p:cNvSpPr/>
          <p:nvPr/>
        </p:nvSpPr>
        <p:spPr>
          <a:xfrm>
            <a:off x="5010912" y="324612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Research:  </a:t>
            </a:r>
            <a:pPr indent="0" marL="0">
              <a:lnSpc>
                <a:spcPct val="103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narrative 'transportation' (Green &amp; Brock, 2000) shows a story — not a score — makes people more open to the unfamiliar.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228600" y="39684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228600" y="4187952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serves new music, but engaged users won't act on it — the unfamiliar arrives with no reason to trust it, so they skip back to the loop.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145536" y="39684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OUTCOME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3145536" y="4187952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Repetition → boredom → churn risk for the highest-LTV cohort. Discovery drives catalog breadth, the artist economy, and retention.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6062472" y="39684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OUTCOME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6062472" y="4187952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Spotify from 'serves the song' to 'earns the play' — own the acceptance layer no rival has built.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37" name="Text 34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gap is real, does it show in real Spotify reviews? Let's look →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AI-coded 7,296 reviews: discovery is praised for accuracy, panned for the loop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review engine across App Store · Play Store · YouTube · Spotify Community. Every claim cites a real review — no fabrication.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880360" cy="3017520"/>
          </a:xfrm>
          <a:prstGeom prst="roundRect">
            <a:avLst>
              <a:gd name="adj" fmla="val 190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89611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REVIEW FINDINGS — 7,296 REVIEWS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15214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7957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02336" y="144475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analyzed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737360" y="115214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17957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1,147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73936" y="144475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AI-labeled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65760" y="170078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7282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2336" y="199339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discovery · 3rd theme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737360" y="170078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37360" y="17282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773936" y="199339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'stale / looping'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65760" y="23042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130 discovery mentions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65760" y="2523744"/>
            <a:ext cx="1005840" cy="182880"/>
          </a:xfrm>
          <a:prstGeom prst="roundRect">
            <a:avLst>
              <a:gd name="adj" fmla="val 15000"/>
            </a:avLst>
          </a:prstGeom>
          <a:solidFill>
            <a:srgbClr val="1ED760"/>
          </a:solidFill>
          <a:ln/>
        </p:spPr>
      </p:sp>
      <p:sp>
        <p:nvSpPr>
          <p:cNvPr id="22" name="Text 20"/>
          <p:cNvSpPr/>
          <p:nvPr/>
        </p:nvSpPr>
        <p:spPr>
          <a:xfrm>
            <a:off x="402336" y="25237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444752" y="252374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Praise it (accurate)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65760" y="2798064"/>
            <a:ext cx="704088" cy="182880"/>
          </a:xfrm>
          <a:prstGeom prst="roundRect">
            <a:avLst>
              <a:gd name="adj" fmla="val 15000"/>
            </a:avLst>
          </a:prstGeom>
          <a:solidFill>
            <a:srgbClr val="1ED760"/>
          </a:solidFill>
          <a:ln/>
        </p:spPr>
      </p:sp>
      <p:sp>
        <p:nvSpPr>
          <p:cNvPr id="25" name="Text 23"/>
          <p:cNvSpPr/>
          <p:nvPr/>
        </p:nvSpPr>
        <p:spPr>
          <a:xfrm>
            <a:off x="402336" y="279806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444752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Stale / looping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072384"/>
            <a:ext cx="164592" cy="182880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28" name="Text 26"/>
          <p:cNvSpPr/>
          <p:nvPr/>
        </p:nvSpPr>
        <p:spPr>
          <a:xfrm>
            <a:off x="402336" y="307238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444752" y="307238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Niche underserved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346704"/>
            <a:ext cx="164592" cy="182880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31" name="Text 29"/>
          <p:cNvSpPr/>
          <p:nvPr/>
        </p:nvSpPr>
        <p:spPr>
          <a:xfrm>
            <a:off x="402336" y="334670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444752" y="334670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/ steer gaps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365760" y="36576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labeled review sample (Groq)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3200400" y="822960"/>
            <a:ext cx="2606040" cy="3017520"/>
          </a:xfrm>
          <a:prstGeom prst="roundRect">
            <a:avLst>
              <a:gd name="adj" fmla="val 2105"/>
            </a:avLst>
          </a:prstGeom>
          <a:solidFill>
            <a:srgbClr val="121212"/>
          </a:solidFill>
          <a:ln w="15875">
            <a:solidFill>
              <a:srgbClr val="F5B83D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3337560" y="8961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SENTIMENT (FROM ★ RATINGS)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37560" y="1188720"/>
            <a:ext cx="2331720" cy="493776"/>
          </a:xfrm>
          <a:prstGeom prst="roundRect">
            <a:avLst>
              <a:gd name="adj" fmla="val 11111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429000" y="1325880"/>
            <a:ext cx="219456" cy="219456"/>
          </a:xfrm>
          <a:prstGeom prst="ellipse">
            <a:avLst/>
          </a:prstGeom>
          <a:solidFill>
            <a:srgbClr val="FF7A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49040" y="12344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1,933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617720" y="123444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337560" y="1755648"/>
            <a:ext cx="2331720" cy="493776"/>
          </a:xfrm>
          <a:prstGeom prst="roundRect">
            <a:avLst>
              <a:gd name="adj" fmla="val 11111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29000" y="1892808"/>
            <a:ext cx="219456" cy="219456"/>
          </a:xfrm>
          <a:prstGeom prst="ellipse">
            <a:avLst/>
          </a:prstGeom>
          <a:solidFill>
            <a:srgbClr val="F5B83D"/>
          </a:solidFill>
          <a:ln/>
        </p:spPr>
      </p:sp>
      <p:sp>
        <p:nvSpPr>
          <p:cNvPr id="42" name="Text 40"/>
          <p:cNvSpPr/>
          <p:nvPr/>
        </p:nvSpPr>
        <p:spPr>
          <a:xfrm>
            <a:off x="3749040" y="180136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627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4617720" y="180136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337560" y="2322576"/>
            <a:ext cx="2331720" cy="493776"/>
          </a:xfrm>
          <a:prstGeom prst="roundRect">
            <a:avLst>
              <a:gd name="adj" fmla="val 11111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29000" y="2459736"/>
            <a:ext cx="219456" cy="21945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46" name="Text 44"/>
          <p:cNvSpPr/>
          <p:nvPr/>
        </p:nvSpPr>
        <p:spPr>
          <a:xfrm>
            <a:off x="3749040" y="23682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3,449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4617720" y="236829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337560" y="2944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complaints skew negative — and come disproportionately from Premium power users.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3337560" y="365760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7,296 cleaned reviews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897880" y="822960"/>
            <a:ext cx="3017520" cy="3017520"/>
          </a:xfrm>
          <a:prstGeom prst="roundRect">
            <a:avLst>
              <a:gd name="adj" fmla="val 1818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6035040" y="8961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WHAT REAL USERS SAID (CITED)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035040" y="1188720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44768" y="1243584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“…locks us into a comfortable but repetitive bubble.”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144768" y="1719072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#6077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035040" y="2029968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44768" y="2084832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“…stuck in a sink hole surrounded by my 2020 top songs.”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144768" y="2560320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#6072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035040" y="2871216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44768" y="29260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“Repeating the same 30 songs out of 3000 isn't shuffle.”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144768" y="3401568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#4896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228600" y="3913632"/>
            <a:ext cx="8686800" cy="658368"/>
          </a:xfrm>
          <a:prstGeom prst="roundRect">
            <a:avLst>
              <a:gd name="adj" fmla="val 8333"/>
            </a:avLst>
          </a:prstGeom>
          <a:solidFill>
            <a:srgbClr val="15202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3968496"/>
            <a:ext cx="8458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research:  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personalization drives homogenization (popularity bias); Discover Weekly narrows genre diversity as engagement rises; narrative transportation lifts acceptance of the unfamiliar. </a:t>
            </a:r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outpacing acceptance — every accuracy upgrade widens the gap.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prove it. But who feels it most, and where does discovery break? →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Explorers want new music — they just won't gamble a skip on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high-tenure Premium power users doing active discovery — the loudest, most-articulate discovery complaints in the reviews.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786384"/>
            <a:ext cx="8686800" cy="384048"/>
          </a:xfrm>
          <a:prstGeom prst="roundRect">
            <a:avLst>
              <a:gd name="adj" fmla="val 14286"/>
            </a:avLst>
          </a:prstGeom>
          <a:solidFill>
            <a:srgbClr val="1628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804672"/>
            <a:ext cx="8458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segment: 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LTV, feel the pain most, and are the most articulate — they drive the 'stale / looping' complaints — the top discovery pain in the reviews. Win them, then expand to all Premium.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225296"/>
            <a:ext cx="420624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338328" y="128016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Aarav, 27 · Bengaluru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9047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Looper” — Premium 4 yrs, 15 hrs/wk, 2,000+ saves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38328" y="17007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pattern: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Trusts his own saves; skeptical of algorithmic 'new'.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8328" y="19751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Unmet need: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reason to believe a new track fits before he risks a listen.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38328" y="224942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trap: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 Discover Weekly, skims, retreats to the same 6 playlists.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38328" y="2596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“everything it shows me, I've basically already heard.”  — reviewer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17720" y="1225296"/>
            <a:ext cx="420624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727448" y="128016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Priya, 24 · Mumbai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27448" y="149047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Curator” — Premium 3 yrs, shares constantly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27448" y="17007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pattern: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Trusts friends &amp; scenes, not black-box recs.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727448" y="19751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Unmet need: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know WHO and WHY behind a pick.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27448" y="224942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trap: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tries music friends share; ignores algo recs entirely.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27448" y="2596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a friend puts me on, I'll try almost anything.”  — reviewer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28600" y="2999232"/>
            <a:ext cx="8595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JOURNEY — WHAT'S HIDDEN AT EVERY STAGE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2608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Open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01752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something new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01752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time; won't gamble it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874520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984248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84248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48256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Served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057400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familiar-leaning picks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057400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recsys optimizes replay, not novelty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630168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739896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39896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03904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Unfamiliar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813048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track appears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813048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story, no trust signal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385816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95544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2E1719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59552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Skip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68696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in ~5s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568696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reason to risk the listen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141464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251192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251192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0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Loop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324344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the same playlist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324344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 reads skip as 'dislike' → narrows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228600" y="431596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insight: </a:t>
            </a:r>
            <a:pPr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failure isn't a bad song — it's the silent skip. Discovery breaks at acceptance, not accuracy; every skip teaches the algorithm to narrow further.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know where trust breaks. Now let's frame the underlying problem →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isn't accuracy; it's that a new track arrives with no reason to trust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Problem-framing canvas — a structural diagnosis of the acceptance gap.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788920" cy="1828800"/>
          </a:xfrm>
          <a:prstGeom prst="roundRect">
            <a:avLst>
              <a:gd name="adj" fmla="val 3000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89611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WHAT IS THE TRUE PROBLEM?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1133856"/>
            <a:ext cx="2542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serves the unfamiliar with no story and no signal, so engaged users can't tell a worth-it new track from a risky one — and they skip. It is not an accuracy problem (recs are good). It is an acceptance problem: no reason to say yes.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788920" cy="1828800"/>
          </a:xfrm>
          <a:prstGeom prst="roundRect">
            <a:avLst>
              <a:gd name="adj" fmla="val 3000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3291840" y="89611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WHO FACES THIS PROBLEM?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91840" y="1133856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Explorers — high-tenure Premium power users doing active discovery.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1572768"/>
            <a:ext cx="2542032" cy="438912"/>
          </a:xfrm>
          <a:prstGeom prst="roundRect">
            <a:avLst>
              <a:gd name="adj" fmla="val 12500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64992" y="160934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1 · The Looper — trusts own saves, skips algo 'new'.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291840" y="2048256"/>
            <a:ext cx="2542032" cy="438912"/>
          </a:xfrm>
          <a:prstGeom prst="roundRect">
            <a:avLst>
              <a:gd name="adj" fmla="val 12500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64992" y="2084832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2 · The Curator — trusts friends, ignores black-box recs.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291840" y="2514600"/>
            <a:ext cx="2542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Largest, highest-LTV, most-articulate discovery cohort.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080760" y="822960"/>
            <a:ext cx="2834640" cy="1828800"/>
          </a:xfrm>
          <a:prstGeom prst="roundRect">
            <a:avLst>
              <a:gd name="adj" fmla="val 3000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6217920" y="896112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HOW DO WE KNOW IT'S A PROBLEM?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17920" y="113385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 flag discovery; 63 'stale/looping'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217920" y="14264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skews negative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7190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#6077 / #6072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217920" y="2011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diversity drops on Discover Weekly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217920" y="23042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rival shows a 'why'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28600" y="2743200"/>
            <a:ext cx="4617720" cy="1847088"/>
          </a:xfrm>
          <a:prstGeom prst="roundRect">
            <a:avLst>
              <a:gd name="adj" fmla="val 2970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65760" y="281635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VALUE GENERATED BY SOLVING THIS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5760" y="305409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Engaged Explorers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65760" y="325526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 genuinely new music they'll love — without gambling a skip. Discovery becomes trustworthy, not a risk. The bubble finally widens.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651760" y="305409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Spotify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651760" y="32552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the highest-LTV cohort, deepen sessions, widen catalog &amp; the artist economy, and own the acceptance layer as a durable moat.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83480" y="2743200"/>
            <a:ext cx="3931920" cy="1847088"/>
          </a:xfrm>
          <a:prstGeom prst="roundRect">
            <a:avLst>
              <a:gd name="adj" fmla="val 2970"/>
            </a:avLst>
          </a:prstGeom>
          <a:solidFill>
            <a:srgbClr val="121212"/>
          </a:solidFill>
          <a:ln w="15875">
            <a:solidFill>
              <a:srgbClr val="F5B83D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5120640" y="281635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WHY SHOULD WE SOLVE THIS NOW?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120640" y="3054096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is saturating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120640" y="3236976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upgrade improves recs and widens the acceptance gap — the unsolved half.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120640" y="356616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unlocks it now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120640" y="3749040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makes a grounded, personal 'why' per (user × track) possible at scale for the first time.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120640" y="4078224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window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120640" y="42611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competitor shows a reason to accept — ship first and it becomes part of the brand.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framed. How many ways could we solve it — and which wins? →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new track arrives with a reason to trust it, engaged users will press play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hypotheses tested against RICE (Reach × Impact × Confidence ÷ Effort). One chosen.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788920" cy="2011680"/>
          </a:xfrm>
          <a:prstGeom prst="roundRect">
            <a:avLst>
              <a:gd name="adj" fmla="val 2727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38328" y="886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· User hypothesis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377440" y="886968"/>
            <a:ext cx="548640" cy="219456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9" name="Text 7"/>
          <p:cNvSpPr/>
          <p:nvPr/>
        </p:nvSpPr>
        <p:spPr>
          <a:xfrm>
            <a:off x="2377440" y="88696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38328" y="11704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block is acceptance, not accuracy — a grounded, personal 'why' converts a skip into a play.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8328" y="2029968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84832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Fixes the CAUSE: users skip the unfamiliar because nothing tells them it's worth the risk.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145536" y="822960"/>
            <a:ext cx="2788920" cy="2011680"/>
          </a:xfrm>
          <a:prstGeom prst="roundRect">
            <a:avLst>
              <a:gd name="adj" fmla="val 2727"/>
            </a:avLst>
          </a:prstGeom>
          <a:solidFill>
            <a:srgbClr val="121212"/>
          </a:solidFill>
          <a:ln w="15875">
            <a:solidFill>
              <a:srgbClr val="F5B83D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255264" y="886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· Business hypothesis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55264" y="11704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Repetition drives churn/disengagement for high-LTV users; fixing discovery retains them.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55264" y="2029968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2A2411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28416" y="2084832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but derivative — retention is the EFFECT of the user problem H1 solves.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62472" y="822960"/>
            <a:ext cx="2788920" cy="2011680"/>
          </a:xfrm>
          <a:prstGeom prst="roundRect">
            <a:avLst>
              <a:gd name="adj" fmla="val 2727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172200" y="886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Market hypothesis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72200" y="11704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rival shows a 'why'; being first owns the trust position permanently.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72200" y="2029968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15202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45352" y="2084832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but passive — it's branding, not a change in behavior at the moment of choice.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28600" y="29626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 FRAMEWORK — WHY H1 WINS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28600" y="3145536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163824"/>
            <a:ext cx="1600200" cy="146304"/>
          </a:xfrm>
          <a:prstGeom prst="roundRect">
            <a:avLst>
              <a:gd name="adj" fmla="val 12500"/>
            </a:avLst>
          </a:prstGeom>
          <a:solidFill>
            <a:srgbClr val="1ED760"/>
          </a:solidFill>
          <a:ln/>
        </p:spPr>
      </p:sp>
      <p:sp>
        <p:nvSpPr>
          <p:cNvPr id="26" name="Text 24"/>
          <p:cNvSpPr/>
          <p:nvPr/>
        </p:nvSpPr>
        <p:spPr>
          <a:xfrm>
            <a:off x="484632" y="316382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57200" y="33192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listener, every session</a:t>
            </a:r>
            <a:endParaRPr lang="en-US" sz="680" dirty="0"/>
          </a:p>
        </p:txBody>
      </p:sp>
      <p:sp>
        <p:nvSpPr>
          <p:cNvPr id="28" name="Shape 26"/>
          <p:cNvSpPr/>
          <p:nvPr/>
        </p:nvSpPr>
        <p:spPr>
          <a:xfrm>
            <a:off x="2240280" y="3163824"/>
            <a:ext cx="832104" cy="146304"/>
          </a:xfrm>
          <a:prstGeom prst="roundRect">
            <a:avLst>
              <a:gd name="adj" fmla="val 12500"/>
            </a:avLst>
          </a:prstGeom>
          <a:solidFill>
            <a:srgbClr val="F5B83D"/>
          </a:solidFill>
          <a:ln/>
        </p:spPr>
      </p:sp>
      <p:sp>
        <p:nvSpPr>
          <p:cNvPr id="29" name="Text 27"/>
          <p:cNvSpPr/>
          <p:nvPr/>
        </p:nvSpPr>
        <p:spPr>
          <a:xfrm>
            <a:off x="2267712" y="316382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240280" y="33192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multi-session data first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4023360" y="3163824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6FA8FF"/>
          </a:solidFill>
          <a:ln/>
        </p:spPr>
      </p:sp>
      <p:sp>
        <p:nvSpPr>
          <p:cNvPr id="32" name="Text 30"/>
          <p:cNvSpPr/>
          <p:nvPr/>
        </p:nvSpPr>
        <p:spPr>
          <a:xfrm>
            <a:off x="4050792" y="316382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023360" y="33192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but passive</a:t>
            </a:r>
            <a:endParaRPr lang="en-US" sz="680" dirty="0"/>
          </a:p>
        </p:txBody>
      </p:sp>
      <p:sp>
        <p:nvSpPr>
          <p:cNvPr id="34" name="Text 32"/>
          <p:cNvSpPr/>
          <p:nvPr/>
        </p:nvSpPr>
        <p:spPr>
          <a:xfrm>
            <a:off x="228600" y="3483864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502152"/>
            <a:ext cx="1472184" cy="146304"/>
          </a:xfrm>
          <a:prstGeom prst="roundRect">
            <a:avLst>
              <a:gd name="adj" fmla="val 12500"/>
            </a:avLst>
          </a:prstGeom>
          <a:solidFill>
            <a:srgbClr val="1ED760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" y="350215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57200" y="36576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converts skip→play at decision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2240280" y="3502152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F5B83D"/>
          </a:solidFill>
          <a:ln/>
        </p:spPr>
      </p:sp>
      <p:sp>
        <p:nvSpPr>
          <p:cNvPr id="39" name="Text 37"/>
          <p:cNvSpPr/>
          <p:nvPr/>
        </p:nvSpPr>
        <p:spPr>
          <a:xfrm>
            <a:off x="2267712" y="350215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2240280" y="36576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delayed — needs learning time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4023360" y="3502152"/>
            <a:ext cx="704088" cy="146304"/>
          </a:xfrm>
          <a:prstGeom prst="roundRect">
            <a:avLst>
              <a:gd name="adj" fmla="val 12500"/>
            </a:avLst>
          </a:prstGeom>
          <a:solidFill>
            <a:srgbClr val="6FA8FF"/>
          </a:solidFill>
          <a:ln/>
        </p:spPr>
      </p:sp>
      <p:sp>
        <p:nvSpPr>
          <p:cNvPr id="42" name="Text 40"/>
          <p:cNvSpPr/>
          <p:nvPr/>
        </p:nvSpPr>
        <p:spPr>
          <a:xfrm>
            <a:off x="4050792" y="350215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023360" y="36576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sounds good, no behavior change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228600" y="3822192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" y="3840480"/>
            <a:ext cx="1344168" cy="146304"/>
          </a:xfrm>
          <a:prstGeom prst="roundRect">
            <a:avLst>
              <a:gd name="adj" fmla="val 12500"/>
            </a:avLst>
          </a:prstGeom>
          <a:solidFill>
            <a:srgbClr val="1ED760"/>
          </a:solidFill>
          <a:ln/>
        </p:spPr>
      </p:sp>
      <p:sp>
        <p:nvSpPr>
          <p:cNvPr id="46" name="Text 44"/>
          <p:cNvSpPr/>
          <p:nvPr/>
        </p:nvSpPr>
        <p:spPr>
          <a:xfrm>
            <a:off x="484632" y="38404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57200" y="39959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 reviews + segment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2240280" y="3840480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F5B83D"/>
          </a:solidFill>
          <a:ln/>
        </p:spPr>
      </p:sp>
      <p:sp>
        <p:nvSpPr>
          <p:cNvPr id="49" name="Text 47"/>
          <p:cNvSpPr/>
          <p:nvPr/>
        </p:nvSpPr>
        <p:spPr>
          <a:xfrm>
            <a:off x="2267712" y="38404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240280" y="39959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 logic, no validation data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023360" y="3840480"/>
            <a:ext cx="832104" cy="146304"/>
          </a:xfrm>
          <a:prstGeom prst="roundRect">
            <a:avLst>
              <a:gd name="adj" fmla="val 12500"/>
            </a:avLst>
          </a:prstGeom>
          <a:solidFill>
            <a:srgbClr val="6FA8FF"/>
          </a:solidFill>
          <a:ln/>
        </p:spPr>
      </p:sp>
      <p:sp>
        <p:nvSpPr>
          <p:cNvPr id="52" name="Text 50"/>
          <p:cNvSpPr/>
          <p:nvPr/>
        </p:nvSpPr>
        <p:spPr>
          <a:xfrm>
            <a:off x="4050792" y="38404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4023360" y="39959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proof positioning shifts trust</a:t>
            </a:r>
            <a:endParaRPr lang="en-US" sz="680" dirty="0"/>
          </a:p>
        </p:txBody>
      </p:sp>
      <p:sp>
        <p:nvSpPr>
          <p:cNvPr id="54" name="Text 52"/>
          <p:cNvSpPr/>
          <p:nvPr/>
        </p:nvSpPr>
        <p:spPr>
          <a:xfrm>
            <a:off x="228600" y="416052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7200" y="4178808"/>
            <a:ext cx="1216152" cy="146304"/>
          </a:xfrm>
          <a:prstGeom prst="roundRect">
            <a:avLst>
              <a:gd name="adj" fmla="val 12500"/>
            </a:avLst>
          </a:prstGeom>
          <a:solidFill>
            <a:srgbClr val="1ED760"/>
          </a:solidFill>
          <a:ln/>
        </p:spPr>
      </p:sp>
      <p:sp>
        <p:nvSpPr>
          <p:cNvPr id="56" name="Text 54"/>
          <p:cNvSpPr/>
          <p:nvPr/>
        </p:nvSpPr>
        <p:spPr>
          <a:xfrm>
            <a:off x="484632" y="41788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457200" y="43342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+ embeddings, prototyped</a:t>
            </a:r>
            <a:endParaRPr lang="en-US" sz="680" dirty="0"/>
          </a:p>
        </p:txBody>
      </p:sp>
      <p:sp>
        <p:nvSpPr>
          <p:cNvPr id="58" name="Shape 56"/>
          <p:cNvSpPr/>
          <p:nvPr/>
        </p:nvSpPr>
        <p:spPr>
          <a:xfrm>
            <a:off x="2240280" y="4178808"/>
            <a:ext cx="960120" cy="146304"/>
          </a:xfrm>
          <a:prstGeom prst="roundRect">
            <a:avLst>
              <a:gd name="adj" fmla="val 12500"/>
            </a:avLst>
          </a:prstGeom>
          <a:solidFill>
            <a:srgbClr val="F5B83D"/>
          </a:solidFill>
          <a:ln/>
        </p:spPr>
      </p:sp>
      <p:sp>
        <p:nvSpPr>
          <p:cNvPr id="59" name="Text 57"/>
          <p:cNvSpPr/>
          <p:nvPr/>
        </p:nvSpPr>
        <p:spPr>
          <a:xfrm>
            <a:off x="2267712" y="41788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2240280" y="43342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tracking + perso engine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4023360" y="4178808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6FA8FF"/>
          </a:solidFill>
          <a:ln/>
        </p:spPr>
      </p:sp>
      <p:sp>
        <p:nvSpPr>
          <p:cNvPr id="62" name="Text 60"/>
          <p:cNvSpPr/>
          <p:nvPr/>
        </p:nvSpPr>
        <p:spPr>
          <a:xfrm>
            <a:off x="4050792" y="41788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4023360" y="43342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branding effort, low intervention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228600" y="449884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57200" y="449884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66" name="Text 64"/>
          <p:cNvSpPr/>
          <p:nvPr/>
        </p:nvSpPr>
        <p:spPr>
          <a:xfrm>
            <a:off x="457200" y="44988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2240280" y="449884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F5B83D"/>
          </a:solidFill>
          <a:ln/>
        </p:spPr>
      </p:sp>
      <p:sp>
        <p:nvSpPr>
          <p:cNvPr id="68" name="Text 66"/>
          <p:cNvSpPr/>
          <p:nvPr/>
        </p:nvSpPr>
        <p:spPr>
          <a:xfrm>
            <a:off x="2240280" y="44988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023360" y="449884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6FA8FF"/>
          </a:solidFill>
          <a:ln/>
        </p:spPr>
      </p:sp>
      <p:sp>
        <p:nvSpPr>
          <p:cNvPr id="70" name="Text 68"/>
          <p:cNvSpPr/>
          <p:nvPr/>
        </p:nvSpPr>
        <p:spPr>
          <a:xfrm>
            <a:off x="4023360" y="44988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5943600" y="2962656"/>
            <a:ext cx="2971800" cy="1627632"/>
          </a:xfrm>
          <a:prstGeom prst="roundRect">
            <a:avLst>
              <a:gd name="adj" fmla="val 3371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72" name="Text 70"/>
          <p:cNvSpPr/>
          <p:nvPr/>
        </p:nvSpPr>
        <p:spPr>
          <a:xfrm>
            <a:off x="6080760" y="305409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H1 wins by ~2× over H2 and ~16× over H3.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6080760" y="347472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attacks the cause — the moment a user decides whether to trust a new track. H2 is the business effect of solving H1; H3 is positioning. Next: the solutions that deliver H1.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75" name="Text 73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 locked. Four solutions explored — one chosen →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wins — it gives a reason to try, not another way to search or shuffle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solutions explored for H1. One chosen; three rejected with evidence.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78892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38328" y="88696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Prompted discovery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31720" y="886968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2331720" y="886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38328" y="1152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discovery what you want in words.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38328" y="148132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Spotify already shipped AI DJ / Prompted Playlist — still serves, gives no reason to trust a new pick.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38328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“everything it shows me I've already heard.”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145536" y="822960"/>
            <a:ext cx="278892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255264" y="88696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Social vouching only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48656" y="886968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5248656" y="886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255264" y="1152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only 'liked by a friend'.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255264" y="148132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Strong trust, but Spotify's social graph is thin — cold-start kills it for most tracks and users.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255264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cold-start: no friends = no signal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062472" y="822960"/>
            <a:ext cx="278892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172200" y="88696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Facts &amp; credits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65592" y="886968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8165592" y="886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72200" y="1152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song facts / credits (SongDNA-style).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72200" y="148132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Facts ≠ a reason to care; no personal 'why this, for you' — it informs, it doesn't persuade.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172200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“…isn't shuffle.” — App Store #4896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28600" y="2615184"/>
            <a:ext cx="4892040" cy="1975104"/>
          </a:xfrm>
          <a:prstGeom prst="roundRect">
            <a:avLst>
              <a:gd name="adj" fmla="val 2778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365760" y="26883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Off Repeat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651760" y="2706624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30" name="Text 28"/>
          <p:cNvSpPr/>
          <p:nvPr/>
        </p:nvSpPr>
        <p:spPr>
          <a:xfrm>
            <a:off x="2651760" y="2706624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65760" y="29626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introduces each new track with a short, grounded, personal story + a three-layer trust cue.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" y="3346704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39242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 AI story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38912" y="357530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on — the reason to try, per (you × track)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697480" y="3346704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0632" y="339242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Taste-twin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2770632" y="357530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'popular with your taste' — collaborative signal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65760" y="3913632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8912" y="395935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❤ Real friend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8912" y="41422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'Liked by Nitya' — strongest trust when present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697480" y="3913632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0632" y="395935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New-to-you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770632" y="41422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guarantee — never what you already play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257800" y="2615184"/>
            <a:ext cx="3657600" cy="1975104"/>
          </a:xfrm>
          <a:prstGeom prst="roundRect">
            <a:avLst>
              <a:gd name="adj" fmla="val 2778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5394960" y="26883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OFF REPEAT WINS AGAINST EACH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394960" y="296265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S1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989320" y="296265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gives a reason, not just steering — a story converts the skip.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394960" y="349300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S2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989320" y="349300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zero friends — the AI story is always on; social is a bonus.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394960" y="402336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S3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989320" y="40233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'why this, for you' — not generic facts. Grounded, no fabrication.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chosen. Now see it work — the live prototype →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not theoretical — here's the live Off Repeat app, running in Spotify's UI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Self-contained web app; AI writes each story live from your taste. Three screens, every button works.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80467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Home</a:t>
            </a:r>
            <a:endParaRPr lang="en-US" sz="1100" dirty="0"/>
          </a:p>
        </p:txBody>
      </p:sp>
      <p:pic>
        <p:nvPicPr>
          <p:cNvPr id="7" name="Image 0" descr="shot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1060704"/>
            <a:ext cx="1170432" cy="22311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334670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clear entry: 'You're on repeat — break out.'  Recently-played loop + a single tap into Off Repeat.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145536" y="80467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Search</a:t>
            </a:r>
            <a:endParaRPr lang="en-US" sz="1100" dirty="0"/>
          </a:p>
        </p:txBody>
      </p:sp>
      <p:pic>
        <p:nvPicPr>
          <p:cNvPr id="10" name="Image 1" descr="shot_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4780" y="1060704"/>
            <a:ext cx="1170432" cy="22311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191256" y="334670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lives in Search (not a bolt-on tab): a featured Off Repeat card + 'Browse all' taste tiles.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6062472" y="80467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Off Repeat</a:t>
            </a:r>
            <a:endParaRPr lang="en-US" sz="1100" dirty="0"/>
          </a:p>
        </p:txBody>
      </p:sp>
      <p:pic>
        <p:nvPicPr>
          <p:cNvPr id="13" name="Image 2" descr="shot_dis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716" y="1060704"/>
            <a:ext cx="1170432" cy="223113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108192" y="334670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Spotify playlist page: cover, controls, and flat track rows — each with its AI story + trust cue.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228600" y="4041648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65760" y="4078224"/>
            <a:ext cx="8458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button works:  </a:t>
            </a:r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· save · Save-all · 'Weirder' (deeper cuts) · Different-genre · Your Library. Trust cue is dynamic — 'Liked by Nitya', 'Popular with your taste', or 'Picked for you'.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228600" y="4535424"/>
            <a:ext cx="8686800" cy="237744"/>
          </a:xfrm>
          <a:prstGeom prst="roundRect">
            <a:avLst>
              <a:gd name="adj" fmla="val 23077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18" name="Text 13"/>
          <p:cNvSpPr/>
          <p:nvPr/>
        </p:nvSpPr>
        <p:spPr>
          <a:xfrm>
            <a:off x="365760" y="4535424"/>
            <a:ext cx="8458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Live app + workflow: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github.com/arjuncooliitr/spotify-discovery-engine</a:t>
            </a:r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How to use: pick your taste → stories generate live → play &amp; save.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20" name="Text 15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the system under the hood — data flow, nudges, edge cases →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engines, one grounded backbone — find the acceptance gap, then close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under the hood: data flow, research grounding, behavioral nudges, and edge cases.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80467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 — RESEARCH ENGINE → PRODUCT ENGINE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28600" y="1042416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38328" y="1088136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Review engine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38328" y="12984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(4 sources) → LLM label → embed + retrieve (MiniLM 384-d) → grounded synthesis → 💡 insight: acceptance gap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1792224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38328" y="183794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Off Repeat MVP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38328" y="20482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→ taste vector → retrieve novel → novelty filter → grounded story + trust (LLM/RAG) → serve + learn ↻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2615184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1628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" y="267004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  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opens Off Repeat → retrieval picks novel, taste-matched tracks → one LLM call writes a grounded story per track (RAG over real artist facts) → trust assigned by rule → rendered in the Spotify UI; adoption feeds back. Added latency ~1–2s; cached per taste.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28600" y="352958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NUDGES BUILT IN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600" y="37673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Break-the-loop card —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pick bridges from the familiar loop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28600" y="40965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One-line story default —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glanceable; full story on tap — no fatigue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28600" y="442569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Save-all + 'Weirder' —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low-friction commitment + deeper exploration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0" y="804672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EACH COMPONENT EXISTS — TRACED TO REVIEWS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0" y="104241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story: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discovery gripe = 'stale/looping'; users want a reason, not a score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15179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layer: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trust friends &amp; 'people like me', not black-box recs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572000" y="199339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filter: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'same 30 songs' (#4896) → must be genuinely new to you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0" y="24688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No-fabrication guardrail: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trust feature can't lie → RAG over real artist facts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0" y="2999232"/>
            <a:ext cx="4343400" cy="1591056"/>
          </a:xfrm>
          <a:prstGeom prst="roundRect">
            <a:avLst>
              <a:gd name="adj" fmla="val 3448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09160" y="307238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CASES HANDLED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09160" y="331012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Background listening: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is opt-in / lean-in only — never interrupts passive play.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63016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 Cold start: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story works alone; taste-twin fills in; friend is a bonus.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4709160" y="395020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 Thin long-tail data: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confidence-gate; fall back to safe cues; never invent facts.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4709160" y="427024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E4 Latency/cost at scale: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 per taste; batch; live gen for high-intent surfaces only.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designed. Now success metrics, leading indicators &amp; guardrails →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North Star for the behavior shift, four indicators to prove it, guardrails to protect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threshold derived from our analysis of 7,296 real reviews, with secondary research woven in.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8686800" cy="932688"/>
          </a:xfrm>
          <a:prstGeom prst="roundRect">
            <a:avLst>
              <a:gd name="adj" fmla="val 5882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North Star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338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Meaningful Discovery Rate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4630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(M3) → 60% (M12)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97480" y="914400"/>
            <a:ext cx="6172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Definition:  </a:t>
            </a:r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weekly listening on newly-adopted artists. Un-gameable — counts only when SURFACED (new to you) + TRIED (≥30s) + KEPT (saved &amp; returned in 7d).  </a:t>
            </a:r>
            <a:pPr indent="0" marL="0"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 </a:t>
            </a:r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the feature and walking away is worth zero — we measure a behavior change, not a click.  </a:t>
            </a:r>
            <a:pPr indent="0" marL="0"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stalls:  </a:t>
            </a:r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is informational, not persuasive → strengthen the story &amp; the break-the-loop bridge.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28600" y="18470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😀 LEADING INDICATORS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8600" y="210312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338328" y="215798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25%  Story-attach try-rate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8328" y="239572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A/B: story vs no story. 45% of reviewers ask for a 'reason'.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38328" y="28346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15% → the story isn't persuading; rewrite &amp; vary voice.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210312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773168" y="215798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30%  New-artist save-rate uplift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73168" y="239572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control. Proves adoption, not curiosity.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73168" y="28346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 → refresh the candidate pool; tune retrieval.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28600" y="329184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38328" y="334670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40%  7-day return on adopted artists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38328" y="358444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came back — real taste change, not a one-off.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38328" y="40233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30% → novelty decay; rotate stories, deepen catalog.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63440" y="329184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73168" y="334670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 Taste breadth by M6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73168" y="358444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new artists / month — the bubble widening.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773168" y="40233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→ retrieval too safe; push further from the loop.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know what success looks like. Now what could go wrong →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ways this could fail — and the guardrails to catch them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risk assessment with research-backed thresholds and specific mitigations.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80467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MODES &amp; MITIGATIONS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42416"/>
          <a:ext cx="548640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286000"/>
                <a:gridCol w="502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could go wrong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it's handled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Acceptance ≠ the real driver — 'won't play' is often mood/effort, not missing trust.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Validate the driver with a targeted user test before building; ship to lean-in surfaces only.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is fragile — one salesy or wrong story and users tune the layer out for good.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RAG grounding + no-fabrication guardrail; style variety; QA on samples.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Payola &amp; gaming — pressure to inject promoted tracks; stream-farming the metric.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Firewall from promotion; reward saved+returned, never raw plays.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becomes a crutch — users stop exploring unaided; a new trust proxy.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unaided exploration; ease off narration as adoption grows.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5B8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Novelty decay — the first-try lift fades once the story feels normal.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 30/90-day adoption retention; refresh story styles.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5B8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Cold-start / long tail — thin metadata where obscure tracks matter most.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Confidence-gate; safe fallback cues; enrich long-tail data.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5B8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897880" y="8046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897880" y="1060704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6007608" y="1133856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1" name="Text 8"/>
          <p:cNvSpPr/>
          <p:nvPr/>
        </p:nvSpPr>
        <p:spPr>
          <a:xfrm>
            <a:off x="6007608" y="11338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007608" y="137160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3% false 'why' (hallucination)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007608" y="1572768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highest-risk failure — strictest threshold; drop invented claims.</a:t>
            </a:r>
            <a:endParaRPr lang="en-US" sz="780" dirty="0"/>
          </a:p>
        </p:txBody>
      </p:sp>
      <p:sp>
        <p:nvSpPr>
          <p:cNvPr id="14" name="Shape 11"/>
          <p:cNvSpPr/>
          <p:nvPr/>
        </p:nvSpPr>
        <p:spPr>
          <a:xfrm>
            <a:off x="5897880" y="1901952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5" name="Text 12"/>
          <p:cNvSpPr/>
          <p:nvPr/>
        </p:nvSpPr>
        <p:spPr>
          <a:xfrm>
            <a:off x="6007608" y="197510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Skip-rate flat / down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007608" y="219456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core listening — Off Repeat must not raise skips.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5897880" y="2743200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8" name="Text 15"/>
          <p:cNvSpPr/>
          <p:nvPr/>
        </p:nvSpPr>
        <p:spPr>
          <a:xfrm>
            <a:off x="6007608" y="28163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Unaided-exploration not falling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007608" y="3035808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we're not creating a crutch.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5897880" y="3584448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6007608" y="365760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saved + returned, not plays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007608" y="387705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kills stream-farming incentives at the metric level.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20000"/>
            </a:avLst>
          </a:prstGeom>
          <a:solidFill>
            <a:srgbClr val="2E1719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doesn't eliminate the loop — </a:t>
            </a:r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earns the play. The riskiest failures are the ones users don't notice, so we de-risk the acceptance driver with a small user test before we build.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 Repeat — Spotify Discovery (detailed)</dc:title>
  <dc:subject>PptxGenJS Presentation</dc:subject>
  <dc:creator>Arjun</dc:creator>
  <cp:lastModifiedBy>Arjun</cp:lastModifiedBy>
  <cp:revision>1</cp:revision>
  <dcterms:created xsi:type="dcterms:W3CDTF">2026-07-05T18:22:51Z</dcterms:created>
  <dcterms:modified xsi:type="dcterms:W3CDTF">2026-07-05T18:22:51Z</dcterms:modified>
</cp:coreProperties>
</file>