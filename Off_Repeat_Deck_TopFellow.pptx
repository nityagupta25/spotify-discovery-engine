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6B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457200" cy="45720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6400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9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NEXTLEAP PM FELLOWSHIP   ·   SPOTIFY · GROWTH TEAM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30352" y="1417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585216" y="2487168"/>
            <a:ext cx="2377440" cy="64008"/>
          </a:xfrm>
          <a:prstGeom prst="rect">
            <a:avLst/>
          </a:prstGeom>
          <a:solidFill>
            <a:srgbClr val="1DB95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7432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2FB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perfected recommendation. Discovery still stalls — because the gap was never accuracy. It's acceptance: a reason to press play on the unfamiliar.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37033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7DE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On Repeat. Meet Off Repeat.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43159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prototype + AI workflow   · 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66928" y="46451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9CC7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Figures: Spotify reported MAU / Premium; repeat-listening &amp; genre-diversity from published personalization research. Reviews: 7,296 analyzed via an AI review engine.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perfected recommendation. Discovery still stalls.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~675M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404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active users (reported)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6032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7860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subscribers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77316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listening is repeat / familiar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858000" y="960120"/>
            <a:ext cx="2057400" cy="1234440"/>
          </a:xfrm>
          <a:prstGeom prst="roundRect">
            <a:avLst>
              <a:gd name="adj" fmla="val 5185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0" y="10607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67728" y="15910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diversity in 6 mo · Discover Weekly (research)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331720"/>
            <a:ext cx="52120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" y="245059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DISCOVERY PARADOX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7249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owns one of the world's best recommenders — so the bottleneck was never finding new music. It's that engaged listeners won't act on it.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346704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6440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exploits familiarity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more you listen, the tighter the loop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767328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68503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Unfamiliar = unrewarded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reason to trust a new pick, so users skip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4187952"/>
            <a:ext cx="137160" cy="13716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10565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backfires —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heaviest users get the stalest discovery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0" y="2331720"/>
            <a:ext cx="3200400" cy="2286000"/>
          </a:xfrm>
          <a:prstGeom prst="roundRect">
            <a:avLst>
              <a:gd name="adj" fmla="val 280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52160" y="2450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MISSING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852160" y="274320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platform competes on recommendation accuracy. None has built the acceptance layer — a reason to press play on the unfamiliar.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852160" y="41148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gap is acceptance, not accuracy.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optimized accuracy. Nobody optimized acceptance.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3268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ECOSYSTEM SOLVED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1207008"/>
            <a:ext cx="2971800" cy="493776"/>
          </a:xfrm>
          <a:prstGeom prst="roundRect">
            <a:avLst>
              <a:gd name="adj" fmla="val 12963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252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 accuracy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· Apple · YouTube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74320" y="1773936"/>
            <a:ext cx="2971800" cy="493776"/>
          </a:xfrm>
          <a:prstGeom prst="roundRect">
            <a:avLst>
              <a:gd name="adj" fmla="val 12963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18196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Natural-language playlists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482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DJ · Prompted Playlist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340864"/>
            <a:ext cx="2971800" cy="493776"/>
          </a:xfrm>
          <a:prstGeom prst="roundRect">
            <a:avLst>
              <a:gd name="adj" fmla="val 12963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23865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 context / credits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6151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SongDNA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74320" y="30175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NOBODY SOLVED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1480" y="33192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A reason to TRY the unfamiliar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712464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373989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Trust in a brand-new rec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4133088"/>
            <a:ext cx="2971800" cy="365760"/>
          </a:xfrm>
          <a:prstGeom prst="roundRect">
            <a:avLst>
              <a:gd name="adj" fmla="val 175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11480" y="416052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Why THIS song, for YOU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29000" y="932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EACH EXISTING FIX FALLS SHORT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29000" y="1207008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566160" y="128016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Weekly / Daylist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66160" y="153619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Personalizes you into a tighter loop — diversity drops over time.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429000" y="2121408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566160" y="219456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DJ / Prompted Playlist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66160" y="245059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Lets you ask, but still just serves — generic, not personal to your history.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429000" y="3035808"/>
            <a:ext cx="26517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566160" y="3108960"/>
            <a:ext cx="2395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SongDNA / Smart Shuffle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566160" y="3364992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Facts and reshuffles — gives no reason to care about a new track.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63640" y="960120"/>
            <a:ext cx="2606040" cy="3611880"/>
          </a:xfrm>
          <a:prstGeom prst="roundRect">
            <a:avLst>
              <a:gd name="adj" fmla="val 24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46520" y="10972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46520" y="1389888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a solved problem. The unsolved problem is acceptance: users won't act on a recommendation they have no reason to trust.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unfamiliar arrives with no story and no signal, the safe move is to skip — back to the familiar.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46520" y="3611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don't need better recs. They need a reason to say yes to the ones they already get.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6" name="Text 34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didn't survey 30 people. We analyzed 7,296 reviews.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80360" cy="3200400"/>
          </a:xfrm>
          <a:prstGeom prst="roundRect">
            <a:avLst>
              <a:gd name="adj" fmla="val 2222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789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REVIEW ENGINE = RESEARCH AT SCALE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Play Store · YouTube · Community → one grounded pipeline. Every claim cites a real review; no fabrication.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22951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analyzed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1,147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7523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structured-labeled (LLM)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1546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32095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frustration = stale / repetitive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1,933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66674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 (from ★ ratings)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0" y="960120"/>
            <a:ext cx="2880360" cy="32004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74720" y="10789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REAL USERS SAID (CITED)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9000" y="1371600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566160" y="14356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“…it locks us into a comfortable but repetitive bubble.”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66160" y="193852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#6077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429000" y="2267712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566160" y="2331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“…stuck in a sink hole surrounded by my 2020 top songs.”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566160" y="283464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429000" y="3163824"/>
            <a:ext cx="2606040" cy="786384"/>
          </a:xfrm>
          <a:prstGeom prst="roundRect">
            <a:avLst>
              <a:gd name="adj" fmla="val 814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566160" y="3227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“Repeating the same 30 songs out of 3000 isn't shuffle.”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566160" y="373075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#4896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309360" y="960120"/>
            <a:ext cx="2560320" cy="3200400"/>
          </a:xfrm>
          <a:prstGeom prst="roundRect">
            <a:avLst>
              <a:gd name="adj" fmla="val 2500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46520" y="10789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+ SECONDARY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1371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Planned: 5–6 interviews with Engaged Explorers (Premium power users).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slot in verbatim quotes ]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46520" y="2423160"/>
            <a:ext cx="2286000" cy="0"/>
          </a:xfrm>
          <a:prstGeom prst="line">
            <a:avLst/>
          </a:prstGeom>
          <a:noFill/>
          <a:ln w="12700">
            <a:solidFill>
              <a:srgbClr val="D8E5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25146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research: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 Weekly cut genre diversity ~12% in 6 mo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LLMs/algorithms narrow taste as engagement rises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Personalization → homogenization (popularity bias)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74320" y="422452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aren't failing to discover — they're refusing to accept.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3" name="Text 31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want new music. They just won't press play on it.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3268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SEGMENTATION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234440" y="137160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298448" y="146304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Comfort Seeker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298448" y="192024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openness · passive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298448" y="217627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loves the loop, won't leave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880360" y="137160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44368" y="146304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Digger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944368" y="192024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openness · active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944368" y="217627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self-discovers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34440" y="25603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298448" y="265176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Passive Repeater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298448" y="310896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openness · passive-skip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298448" y="336499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new, no effort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880360" y="25603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CF3D9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880360" y="2560320"/>
            <a:ext cx="1600200" cy="1143000"/>
          </a:xfrm>
          <a:prstGeom prst="roundRect">
            <a:avLst>
              <a:gd name="adj" fmla="val 5600"/>
            </a:avLst>
          </a:prstGeom>
          <a:ln w="31750">
            <a:solidFill>
              <a:srgbClr val="0E6B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44368" y="265176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Bubble-Trapped Explorer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944368" y="310896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openness · high effort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44368" y="336499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new, can't accept it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234440" y="3767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▲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openness →   ·   effort 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0" y="960120"/>
            <a:ext cx="4297680" cy="3611880"/>
          </a:xfrm>
          <a:prstGeom prst="roundRect">
            <a:avLst>
              <a:gd name="adj" fmla="val 177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1143000"/>
            <a:ext cx="777240" cy="777240"/>
          </a:xfrm>
          <a:prstGeom prst="ellipse">
            <a:avLst/>
          </a:prstGeom>
          <a:solidFill>
            <a:srgbClr val="E7F6EC"/>
          </a:solidFill>
          <a:ln w="19050">
            <a:solidFill>
              <a:srgbClr val="1DB9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1143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69280" y="1188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Aarav G.  </a:t>
            </a:r>
            <a:pPr indent="0" marL="0">
              <a:buNone/>
            </a:pPr>
            <a:r>
              <a:rPr lang="en-US" sz="13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27 · Bengaluru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669280" y="14813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· 4 yrs · 15 hrs/wk · 2,000+ saved songs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669280" y="16916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Bubble-Trapped Explorer”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20574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JOB-TO-BE-DONE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54880" y="2304288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“When I open Spotify, I want to hear something genuinely new I'll love — without gambling my limited listening time on a skip.”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54880" y="29718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 POINTS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54880" y="3218688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Recs feel like a rerun of his own history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reason to trust an unfamiliar track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Defaults to the same playlists, then feels stuck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54880" y="40690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want new music — but everything it shows me, I've basically already heard.”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6" name="Text 34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doesn't fail at the song. It fails at the skip.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47472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Open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something new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E7F6EC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Hopeful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979676" y="2103120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039112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112264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Served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130552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Weekly loads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30552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familiar-leaning picks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30552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E7F6EC"/>
          </a:solidFill>
          <a:ln/>
        </p:spPr>
      </p:sp>
      <p:sp>
        <p:nvSpPr>
          <p:cNvPr id="16" name="Text 14"/>
          <p:cNvSpPr/>
          <p:nvPr/>
        </p:nvSpPr>
        <p:spPr>
          <a:xfrm>
            <a:off x="2130552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44468" y="2103120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803904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877056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Unfamiliar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895344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track appears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95344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signal, no story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895344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E7F6EC"/>
          </a:solidFill>
          <a:ln/>
        </p:spPr>
      </p:sp>
      <p:sp>
        <p:nvSpPr>
          <p:cNvPr id="23" name="Text 21"/>
          <p:cNvSpPr/>
          <p:nvPr/>
        </p:nvSpPr>
        <p:spPr>
          <a:xfrm>
            <a:off x="3895344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509260" y="2103120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568696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41848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Skip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0136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after 5 sec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660136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to trust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0136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0E6B37"/>
          </a:solidFill>
          <a:ln/>
        </p:spPr>
      </p:sp>
      <p:sp>
        <p:nvSpPr>
          <p:cNvPr id="30" name="Text 28"/>
          <p:cNvSpPr/>
          <p:nvPr/>
        </p:nvSpPr>
        <p:spPr>
          <a:xfrm>
            <a:off x="5660136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Retreat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274052" y="2103120"/>
            <a:ext cx="54864" cy="0"/>
          </a:xfrm>
          <a:prstGeom prst="line">
            <a:avLst/>
          </a:prstGeom>
          <a:noFill/>
          <a:ln w="25400">
            <a:solidFill>
              <a:srgbClr val="1DB95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333488" y="1005840"/>
            <a:ext cx="1700784" cy="2286000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406640" y="1097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Familiar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424928" y="141732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old playlist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424928" y="196596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 tightens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424928" y="2834640"/>
            <a:ext cx="1517904" cy="310896"/>
          </a:xfrm>
          <a:prstGeom prst="roundRect">
            <a:avLst>
              <a:gd name="adj" fmla="val 23529"/>
            </a:avLst>
          </a:prstGeom>
          <a:solidFill>
            <a:srgbClr val="E7F6EC"/>
          </a:solidFill>
          <a:ln/>
        </p:spPr>
      </p:sp>
      <p:sp>
        <p:nvSpPr>
          <p:cNvPr id="37" name="Text 35"/>
          <p:cNvSpPr/>
          <p:nvPr/>
        </p:nvSpPr>
        <p:spPr>
          <a:xfrm>
            <a:off x="7424928" y="2834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74320" y="3429000"/>
            <a:ext cx="8595360" cy="1143000"/>
          </a:xfrm>
          <a:prstGeom prst="roundRect">
            <a:avLst>
              <a:gd name="adj" fmla="val 5600"/>
            </a:avLst>
          </a:prstGeom>
          <a:solidFill>
            <a:srgbClr val="FCF3D9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57200" y="352958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BREAKDOWN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785616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 isn't a bad recommendation — it's the silent skip at stage 4.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unfamiliar track arrives with no story, no trust signal, no reason to risk a listen. So the user retreats, the loop tightens, and the algorithm reads the skip as 'they didn't like it' — narrowing further.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42" name="Text 40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isn't accuracy. It's acceptance.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93192" y="1033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93192" y="128930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arrive with no reason to trust them → users skip the unfamiliar and retreat to the familiar.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063240" y="96012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82112" y="103327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feels 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82112" y="128930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— high-tenure Premium power users who want new music but feel trapped.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92024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93192" y="199339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· users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" y="224942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 genuinely new music they'll love, without gambling a skip.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063240" y="192024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82112" y="199339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· Spotify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82112" y="224942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Re-ignite discovery for the highest-LTV cohort → retention + session depth.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88036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3192" y="295351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know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3192" y="320954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reviews: stale/repetitive = #1 discovery complaint; cross-source, cross-segment.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063240" y="2880360"/>
            <a:ext cx="26517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82112" y="2953512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82112" y="3209544"/>
            <a:ext cx="24140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upgrade improves accuracy &amp; widens the acceptance gap. No one owns it yet.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943600" y="960120"/>
            <a:ext cx="292608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080760" y="10607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SIZING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1371600"/>
            <a:ext cx="2286000" cy="2286000"/>
          </a:xfrm>
          <a:prstGeom prst="ellipse">
            <a:avLst/>
          </a:prstGeom>
          <a:solidFill>
            <a:srgbClr val="E7F6EC"/>
          </a:solidFill>
          <a:ln/>
        </p:spPr>
      </p:sp>
      <p:sp>
        <p:nvSpPr>
          <p:cNvPr id="25" name="Shape 23"/>
          <p:cNvSpPr/>
          <p:nvPr/>
        </p:nvSpPr>
        <p:spPr>
          <a:xfrm>
            <a:off x="6355080" y="1783080"/>
            <a:ext cx="1691640" cy="1691640"/>
          </a:xfrm>
          <a:prstGeom prst="ellipse">
            <a:avLst/>
          </a:prstGeom>
          <a:solidFill>
            <a:srgbClr val="CDEBD7"/>
          </a:solidFill>
          <a:ln/>
        </p:spPr>
      </p:sp>
      <p:sp>
        <p:nvSpPr>
          <p:cNvPr id="26" name="Shape 24"/>
          <p:cNvSpPr/>
          <p:nvPr/>
        </p:nvSpPr>
        <p:spPr>
          <a:xfrm>
            <a:off x="6629400" y="2286000"/>
            <a:ext cx="1097280" cy="1097280"/>
          </a:xfrm>
          <a:prstGeom prst="ellipse">
            <a:avLst/>
          </a:prstGeom>
          <a:solidFill>
            <a:srgbClr val="1DB954"/>
          </a:solidFill>
          <a:ln/>
        </p:spPr>
      </p:sp>
      <p:sp>
        <p:nvSpPr>
          <p:cNvPr id="27" name="Text 25"/>
          <p:cNvSpPr/>
          <p:nvPr/>
        </p:nvSpPr>
        <p:spPr>
          <a:xfrm>
            <a:off x="6172200" y="1463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listeners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~263M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29400" y="254203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</a:t>
            </a:r>
            <a:endParaRPr lang="en-US" sz="85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080760" y="38862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Engaged Explorers: highest LTV, feel the pain most, most articulate. Win them → expand to all Premium.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2" name="Text 30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break the bubble. Only one earns trust.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9319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Steerable 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9319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9319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tell discovery what you want in plain language. Powerful — but Spotify already shipped Prompted Playlist / AI DJ.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316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vouching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4203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VOUCH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54203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'liked by a friend'. Strong trust — but Spotify's social graph is thin; cold-start kills it.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0" y="960120"/>
            <a:ext cx="2011680" cy="1965960"/>
          </a:xfrm>
          <a:prstGeom prst="roundRect">
            <a:avLst>
              <a:gd name="adj" fmla="val 3256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106070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90872" y="1335024"/>
            <a:ext cx="1773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 / PERSUADE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690872" y="1572768"/>
            <a:ext cx="17739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introduces each new track with a personalized story (why YOU'll like it) + trust layer. Earns acceptance.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108960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914400"/>
                <a:gridCol w="914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 Repeat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insight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earned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feasibility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moat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724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E6B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5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663440" y="3108960"/>
            <a:ext cx="4206240" cy="1463040"/>
          </a:xfrm>
          <a:prstGeom prst="roundRect">
            <a:avLst>
              <a:gd name="adj" fmla="val 4375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846320" y="32004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OFF REPEAT WINS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846320" y="3456432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Keeps the user the decider — supports judgment, doesn't replace it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Targets the real failure: the unfamiliar arriving with no reason to try it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Stakes-adaptive: light for casual, rich for high-intent discovery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 moat: a personalized taste-narrative profile rivals can't copy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21" name="Text 18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On Repeat. Meet Off Repeat.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6012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the friend who puts you on. Generative AI writes a unique, grounded reason to press play for every track — impossible to template or hand-author at scale. Recommendation picks the song; AI earns the play. Trust scales in three layers: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2103120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21488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 Real friend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23682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“Liked by Nitya” — strongest trust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2670048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7157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7B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◑  AI taste-twin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935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“Popular with your taste”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3236976"/>
            <a:ext cx="320040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328269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5C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 AI story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50215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— works with zero friends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74320" y="393192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prototype + workflow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703320" y="960120"/>
            <a:ext cx="5166360" cy="3611880"/>
          </a:xfrm>
          <a:prstGeom prst="roundRect">
            <a:avLst>
              <a:gd name="adj" fmla="val 2532"/>
            </a:avLst>
          </a:prstGeom>
          <a:solidFill>
            <a:srgbClr val="14110F"/>
          </a:solidFill>
          <a:ln/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931920" y="10972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🎧 Off Repeat — for someone who loves Tame Impala + lo-fi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931920" y="1463040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152704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Crumb — “Locket”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98080" y="1536192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0" y="1536192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069080" y="1746504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psych-pop · Brooklyn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069080" y="192024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woozy Tame-Impala basslines you love — from a Brooklyn band you've never played.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069080" y="2157984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B9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 Liked by Nitya · your friend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931920" y="2450592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25" name="Text 23"/>
          <p:cNvSpPr/>
          <p:nvPr/>
        </p:nvSpPr>
        <p:spPr>
          <a:xfrm>
            <a:off x="4069080" y="2514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 High Club — “Homage”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498080" y="2523744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0" y="2523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069080" y="2734056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psych-pop · Los Angeles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069080" y="290779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lush, jazzy psychedelia — that dreamy haze you love, at a Sunday tempo.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069080" y="3145536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 Popular with your taste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931920" y="3438144"/>
            <a:ext cx="4709160" cy="896112"/>
          </a:xfrm>
          <a:prstGeom prst="roundRect">
            <a:avLst>
              <a:gd name="adj" fmla="val 7143"/>
            </a:avLst>
          </a:prstGeom>
          <a:solidFill>
            <a:srgbClr val="201C1A"/>
          </a:solidFill>
          <a:ln/>
        </p:spPr>
      </p:sp>
      <p:sp>
        <p:nvSpPr>
          <p:cNvPr id="32" name="Text 30"/>
          <p:cNvSpPr/>
          <p:nvPr/>
        </p:nvSpPr>
        <p:spPr>
          <a:xfrm>
            <a:off x="4069080" y="35021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 I Trust — “Show Me How”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498080" y="3511296"/>
            <a:ext cx="960120" cy="237744"/>
          </a:xfrm>
          <a:prstGeom prst="roundRect">
            <a:avLst>
              <a:gd name="adj" fmla="val 38462"/>
            </a:avLst>
          </a:prstGeom>
          <a:solidFill>
            <a:srgbClr val="1DB954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0" y="351129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YOU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69080" y="37216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FAF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indie · Montreal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69080" y="389534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8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hushed lo-fi groove you keep on repeat — still way under the radar.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069080" y="4133088"/>
            <a:ext cx="4434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9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 Picked for you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9" name="Text 37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grounded engine, twice — to find the problem, then fix it.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AI REVIEW ENGINE — HOW WE FOUND THE PROBLEM (RESEARCH AT SCALE)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918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918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Play Store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 · Community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84708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03454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8940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08940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per-review LLM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(Groq)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60730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79476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4962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+ retrieve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962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MiniLM 384-d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search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36752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55498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0984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60984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grounded, cited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· no fabrication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127748" y="14264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0" y="122529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CFEAD8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70064" y="128016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Insight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70064" y="152704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pain = stale/repeat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gap is ACCEPTANCE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74320" y="210312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the finding is the product spec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" y="237744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OFF REPEAT MVP — HOW WE ACT ON IT (LIVE, PER USER)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918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918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history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saves · friends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4708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203454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08940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vector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08940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what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love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60730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79476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84962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+ filter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84962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novel, long-tail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the known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536752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55498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60984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story + trust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60984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writes the 'why' (RAG)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 · twin · AI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7127748" y="288950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A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7315200" y="2688336"/>
            <a:ext cx="1554480" cy="786384"/>
          </a:xfrm>
          <a:prstGeom prst="roundRect">
            <a:avLst>
              <a:gd name="adj" fmla="val 6977"/>
            </a:avLst>
          </a:prstGeom>
          <a:solidFill>
            <a:srgbClr val="C7DBFF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370064" y="2743200"/>
            <a:ext cx="1444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+ learn ↻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370064" y="2990088"/>
            <a:ext cx="1444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UI · learns</a:t>
            </a:r>
            <a:endParaRPr lang="en-US" sz="7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adopt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74320" y="3675888"/>
            <a:ext cx="8595360" cy="548640"/>
          </a:xfrm>
          <a:prstGeom prst="roundRect">
            <a:avLst>
              <a:gd name="adj" fmla="val 10000"/>
            </a:avLst>
          </a:prstGeom>
          <a:solidFill>
            <a:srgbClr val="14110F"/>
          </a:solidFill>
          <a:ln/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457200" y="3730752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7DE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backbone   </a:t>
            </a:r>
            <a:pPr algn="ctr"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ECEC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generative AI · no-fabrication guardrail (RAG over real facts) · Groq LLM + sentence-transformer embeddings — the rigor that made the research trustworthy makes the feature trustworthy.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74320" y="431596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 handled — hallucination → RAG grounding · cold-start → AI story works alone · story fatigue → one glanceable line, full story on tap.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49" name="Text 47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36576"/>
            <a:ext cx="8595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they discover — or just get served?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5166360" cy="1371600"/>
          </a:xfrm>
          <a:prstGeom prst="roundRect">
            <a:avLst>
              <a:gd name="adj" fmla="val 4667"/>
            </a:avLst>
          </a:prstGeom>
          <a:solidFill>
            <a:srgbClr val="E7F6EC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60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NORTH-STAR · MEANINGFUL DISCOVERY RATE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33502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weekly listening on newly-adopted artists — baseline ~0 → 35% (M3) → 60% (M12). Counts only when: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1536192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79222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201168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 the user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103120" y="1737360"/>
            <a:ext cx="1536192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103120" y="179222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48840" y="201168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played ≥30s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737360"/>
            <a:ext cx="1536192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749040" y="1792224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94760" y="2011680"/>
            <a:ext cx="1444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+ returned in 7d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2395728"/>
            <a:ext cx="5166360" cy="457200"/>
          </a:xfrm>
          <a:prstGeom prst="roundRect">
            <a:avLst>
              <a:gd name="adj" fmla="val 14000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11480" y="244144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783080" y="24414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Story-attach try-rate · A/B story vs none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297680" y="244144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+25%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2926080"/>
            <a:ext cx="5166360" cy="457200"/>
          </a:xfrm>
          <a:prstGeom prst="roundRect">
            <a:avLst>
              <a:gd name="adj" fmla="val 14000"/>
            </a:avLst>
          </a:prstGeom>
          <a:solidFill>
            <a:srgbClr val="E6EFF7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" y="297180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783080" y="297180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New-artist save-rate · 7-day return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97680" y="29718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upward by M3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4320" y="3456432"/>
            <a:ext cx="5166360" cy="457200"/>
          </a:xfrm>
          <a:prstGeom prst="roundRect">
            <a:avLst>
              <a:gd name="adj" fmla="val 14000"/>
            </a:avLst>
          </a:prstGeom>
          <a:solidFill>
            <a:srgbClr val="FCF3D9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1480" y="350215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783080" y="350215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Skip-rate · session time (protect core)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297680" y="350215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/ down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4320" y="404164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 — P1 (M0–3): shadow-test on 1% of Engaged Explorers · P2 (M3–6): 10% + guardrail gates · P3 (M6–12): all Premium if discovery-rate ↑ and skip-rate flat.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74320" y="4407408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i="1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becomes a launchpad — Off Repeat doesn't chase better recs, it earns the play.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623560" y="960120"/>
            <a:ext cx="3246120" cy="3611880"/>
          </a:xfrm>
          <a:prstGeom prst="roundRect">
            <a:avLst>
              <a:gd name="adj" fmla="val 1972"/>
            </a:avLst>
          </a:prstGeom>
          <a:solidFill>
            <a:srgbClr val="FBE3DD"/>
          </a:solidFill>
          <a:ln w="12700">
            <a:solidFill>
              <a:srgbClr val="D8E5DC"/>
            </a:solidFill>
            <a:prstDash val="solid"/>
          </a:ln>
          <a:effectLst>
            <a:outerShdw sx="100000" sy="100000" kx="0" ky="0" algn="bl" rotWithShape="0" blurRad="88900" dist="25400" dir="5400000">
              <a:srgbClr val="6B6B6B">
                <a:alpha val="2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779008" y="106070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E6B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CAN FAIL · WHAT WE ACCEPT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779008" y="1371600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Hallucinated story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779008" y="160934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ground in real facts; guardrail drops invented claims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779008" y="2139696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becomes a crutch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779008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measure if users still explore unaided; ease off over time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779008" y="2907792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Stream-farming the reward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779008" y="314553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reward adoption (saved + returned), not raw plays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779008" y="3675888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fatigue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779008" y="391363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C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lean-in only; one glanceable line by default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E6B37"/>
          </a:solidFill>
          <a:ln/>
        </p:spPr>
      </p:sp>
      <p:sp>
        <p:nvSpPr>
          <p:cNvPr id="41" name="Text 39"/>
          <p:cNvSpPr/>
          <p:nvPr/>
        </p:nvSpPr>
        <p:spPr>
          <a:xfrm>
            <a:off x="182880" y="4754880"/>
            <a:ext cx="87782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pPr algn="ctr" indent="0" marL="0">
              <a:buNone/>
            </a:pPr>
            <a:r>
              <a:rPr lang="en-US" sz="850" dirty="0">
                <a:solidFill>
                  <a:srgbClr val="FFFFFF">
                    <a:alpha val="4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</a:t>
            </a:r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Metrics &amp; Risks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 Repeat — Spotify Discovery (Top-Fellow format)</dc:title>
  <dc:subject>PptxGenJS Presentation</dc:subject>
  <dc:creator>Arjun</dc:creator>
  <cp:lastModifiedBy>Arjun</cp:lastModifiedBy>
  <cp:revision>1</cp:revision>
  <dcterms:created xsi:type="dcterms:W3CDTF">2026-07-04T18:37:13Z</dcterms:created>
  <dcterms:modified xsi:type="dcterms:W3CDTF">2026-07-04T18:37:13Z</dcterms:modified>
</cp:coreProperties>
</file>