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6B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2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640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NEXTLEAP PM FELLOWSHIP   ·   SPOTIFY · GROWTH 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Repeat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585216" y="2487168"/>
            <a:ext cx="2377440" cy="64008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743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2F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perfected recommendation. Discovery still stalls — because the gap was never accuracy. It's acceptance: a reason to press play on the unfamiliar.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37033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D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On Repeat. Meet Off Repeat.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315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Live prototype + AI workflow   · 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github.com/arjuncooliitr/spotify-discovery-engine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46451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CC7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Figures: Spotify reported MAU / Premium; repeat-listening &amp; genre-diversity from published personalization research. Reviews: 7,296 analyzed via an AI review engine.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perfected recommendation. Discovery still stalls.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607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~675M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84048" y="1591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 (reported)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0607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78608" y="1591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subscribers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607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73168" y="1591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listening is repeat / familiar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0" y="960120"/>
            <a:ext cx="2057400" cy="1234440"/>
          </a:xfrm>
          <a:prstGeom prst="roundRect">
            <a:avLst>
              <a:gd name="adj" fmla="val 5185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0607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67728" y="1591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diversity in 6 mo · Discover Weekly (research)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521208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4505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 PARADOX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249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owns one of the world's best recommenders — so the bottleneck was never finding new music. It's that engaged listeners won't act on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346704"/>
            <a:ext cx="137160" cy="13716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644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exploits familiarity —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you listen, the tighter the loop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67328"/>
            <a:ext cx="137160" cy="13716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85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Unfamiliar = unrewarded —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reason to trust a new pick, so users skip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187952"/>
            <a:ext cx="137160" cy="13716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056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backfires —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heaviest users get the stalest discovery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331720"/>
            <a:ext cx="3200400" cy="2286000"/>
          </a:xfrm>
          <a:prstGeom prst="roundRect">
            <a:avLst>
              <a:gd name="adj" fmla="val 2800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24505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2743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platform competes on recommendation accuracy. None has built the acceptance layer — a reason to press play on the unfamiliar.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52160" y="4114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i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gap is acceptance, not accuracy.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optimized accuracy. Nobody optimized acceptance.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9326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ECOSYSTEM SOLVED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2971800" cy="493776"/>
          </a:xfrm>
          <a:prstGeom prst="roundRect">
            <a:avLst>
              <a:gd name="adj" fmla="val 12963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52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· Apple · YouTube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73936"/>
            <a:ext cx="2971800" cy="493776"/>
          </a:xfrm>
          <a:prstGeom prst="roundRect">
            <a:avLst>
              <a:gd name="adj" fmla="val 12963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819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playlists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DJ · Prompted Playlist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2971800" cy="493776"/>
          </a:xfrm>
          <a:prstGeom prst="roundRect">
            <a:avLst>
              <a:gd name="adj" fmla="val 12963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3865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 context / credits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SongDNA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4320" y="3017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NOBODY SOLVED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 reason to TRY the unfamiliar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739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Trust in a brand-new rec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133088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41605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Why THIS song, for YOU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932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EACH EXISTING FIX FALLS SHORT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1207008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66160" y="12801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Weekly / Daylist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15361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Personalizes you into a tighter loop — diversity drops over time.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2121408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66160" y="21945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DJ / Prompted Playlist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24505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you ask, but still just serves — generic, not personal to your history.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29000" y="3035808"/>
            <a:ext cx="26517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66160" y="31089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SongDNA / Smart Shuffle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0" y="336499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and reshuffles — gives no reason to care about a new track.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96012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E6EFF7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46520" y="10972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1389888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a solved problem. The unsolved problem is acceptance: users won't act on a recommendation they have no reason to trust.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unfamiliar arrives with no story and no signal, the safe move is to skip — back to the familiar.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4652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don't need better recs. They need a reason to say yes to the ones they already get.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didn't survey 30 people. We analyzed 7,296 reviews.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80360" cy="3200400"/>
          </a:xfrm>
          <a:prstGeom prst="roundRect">
            <a:avLst>
              <a:gd name="adj" fmla="val 2222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REVIEW ENGINE = RESEARCH AT SCALE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· Play Store · YouTube · Community → one grounded pipeline. Every claim cites a real review; no fabrication.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7,296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2295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analyzed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1,147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752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structured-labeled (LLM)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32095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 = stale / repetitive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1,933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6667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(from ★ ratings)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960120"/>
            <a:ext cx="2880360" cy="3200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1078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REAL USERS SAID (CITED)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1371600"/>
            <a:ext cx="2606040" cy="786384"/>
          </a:xfrm>
          <a:prstGeom prst="roundRect">
            <a:avLst>
              <a:gd name="adj" fmla="val 8140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66160" y="14356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“…it locks us into a comfortable but repetitive bubble.”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· #6077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29000" y="2267712"/>
            <a:ext cx="2606040" cy="786384"/>
          </a:xfrm>
          <a:prstGeom prst="roundRect">
            <a:avLst>
              <a:gd name="adj" fmla="val 8140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6616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“…stuck in a sink hole surrounded by my 2020 top songs.”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66160" y="2834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· #6072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29000" y="3163824"/>
            <a:ext cx="2606040" cy="786384"/>
          </a:xfrm>
          <a:prstGeom prst="roundRect">
            <a:avLst>
              <a:gd name="adj" fmla="val 8140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66160" y="32278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“Repeating the same 30 songs out of 3000 isn't shuffle.”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66160" y="37307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· #4896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960120"/>
            <a:ext cx="2560320" cy="3200400"/>
          </a:xfrm>
          <a:prstGeom prst="roundRect">
            <a:avLst>
              <a:gd name="adj" fmla="val 2500"/>
            </a:avLst>
          </a:prstGeom>
          <a:solidFill>
            <a:srgbClr val="E6EFF7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1078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+ SECONDARY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Planned: 5–6 interviews with Engaged Explorers (Premium power users).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slot in verbatim quotes ]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2423160"/>
            <a:ext cx="2286000" cy="0"/>
          </a:xfrm>
          <a:prstGeom prst="line">
            <a:avLst/>
          </a:prstGeom>
          <a:noFill/>
          <a:ln w="12700">
            <a:solidFill>
              <a:srgbClr val="D8E5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5146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research: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 Weekly cut genre diversity ~12% in 6 mo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LLMs/algorithms narrow taste as engagement rises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Personalization → homogenization (popularity bias)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2245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aren't failing to discover — they're refusing to accept.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want new music. They just won't press play on it.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9326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SEGMENTATION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34440" y="137160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98448" y="146304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Seeker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98448" y="192024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openness · passive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98448" y="217627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loves the loop, won't leave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80360" y="137160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4368" y="146304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Digger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44368" y="192024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openness · active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44368" y="217627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self-discovers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34440" y="25603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98448" y="265176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Repeater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98448" y="310896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openness · passive-skip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98448" y="336499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new, no effort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80360" y="2560320"/>
            <a:ext cx="1600200" cy="1143000"/>
          </a:xfrm>
          <a:prstGeom prst="roundRect">
            <a:avLst>
              <a:gd name="adj" fmla="val 5600"/>
            </a:avLst>
          </a:prstGeom>
          <a:solidFill>
            <a:srgbClr val="FCF3D9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80360" y="2560320"/>
            <a:ext cx="1600200" cy="1143000"/>
          </a:xfrm>
          <a:prstGeom prst="roundRect">
            <a:avLst>
              <a:gd name="adj" fmla="val 5600"/>
            </a:avLst>
          </a:prstGeom>
          <a:ln w="31750">
            <a:solidFill>
              <a:srgbClr val="0E6B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2651760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Bubble-Trapped Explorer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44368" y="310896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openness · high effort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44368" y="3364992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new, can't accept 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34440" y="3767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▲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openness →   ·   effort 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960120"/>
            <a:ext cx="429768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143000"/>
            <a:ext cx="777240" cy="777240"/>
          </a:xfrm>
          <a:prstGeom prst="ellipse">
            <a:avLst/>
          </a:prstGeom>
          <a:solidFill>
            <a:srgbClr val="E7F6EC"/>
          </a:solidFill>
          <a:ln w="19050">
            <a:solidFill>
              <a:srgbClr val="1DB9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Aarav G.  </a:t>
            </a:r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27 · Bengaluru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· 4 yrs · 15 hrs/wk · 2,000+ saved songs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69280" y="1691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Bubble-Trapped Explorer”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057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JOB-TO-BE-DONE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30428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I open Spotify, I want to hear something genuinely new I'll love — without gambling my limited listening time on a skip.”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29718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21868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Recs feel like a rerun of his own history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reason to trust an unfamiliar track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Defaults to the same playlists, then feels stuck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40690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i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want new music — but everything it shows me, I've basically already heard.”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6" name="Text 34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doesn't fail at the song. It fails at the skip.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Open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Wants something new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517904" cy="310896"/>
          </a:xfrm>
          <a:prstGeom prst="roundRect">
            <a:avLst>
              <a:gd name="adj" fmla="val 23529"/>
            </a:avLst>
          </a:prstGeom>
          <a:solidFill>
            <a:srgbClr val="E7F6E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Hopeful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79676" y="2103120"/>
            <a:ext cx="54864" cy="0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39112" y="10058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12264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Served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30552" y="14173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Weekly loads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0552" y="19659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familiar-leaning picks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30552" y="2834640"/>
            <a:ext cx="1517904" cy="310896"/>
          </a:xfrm>
          <a:prstGeom prst="roundRect">
            <a:avLst>
              <a:gd name="adj" fmla="val 23529"/>
            </a:avLst>
          </a:prstGeom>
          <a:solidFill>
            <a:srgbClr val="E7F6EC"/>
          </a:solidFill>
          <a:ln/>
        </p:spPr>
      </p:sp>
      <p:sp>
        <p:nvSpPr>
          <p:cNvPr id="16" name="Text 14"/>
          <p:cNvSpPr/>
          <p:nvPr/>
        </p:nvSpPr>
        <p:spPr>
          <a:xfrm>
            <a:off x="2130552" y="28346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44468" y="2103120"/>
            <a:ext cx="54864" cy="0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03904" y="10058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77056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Unfamiliar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95344" y="14173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track appears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95344" y="19659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signal, no story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95344" y="2834640"/>
            <a:ext cx="1517904" cy="310896"/>
          </a:xfrm>
          <a:prstGeom prst="roundRect">
            <a:avLst>
              <a:gd name="adj" fmla="val 23529"/>
            </a:avLst>
          </a:prstGeom>
          <a:solidFill>
            <a:srgbClr val="E7F6EC"/>
          </a:solidFill>
          <a:ln/>
        </p:spPr>
      </p:sp>
      <p:sp>
        <p:nvSpPr>
          <p:cNvPr id="23" name="Text 21"/>
          <p:cNvSpPr/>
          <p:nvPr/>
        </p:nvSpPr>
        <p:spPr>
          <a:xfrm>
            <a:off x="3895344" y="28346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09260" y="2103120"/>
            <a:ext cx="54864" cy="0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68696" y="10058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41848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Skip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0136" y="14173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after 5 sec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0136" y="19659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trust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0136" y="2834640"/>
            <a:ext cx="1517904" cy="310896"/>
          </a:xfrm>
          <a:prstGeom prst="roundRect">
            <a:avLst>
              <a:gd name="adj" fmla="val 23529"/>
            </a:avLst>
          </a:prstGeom>
          <a:solidFill>
            <a:srgbClr val="0E6B37"/>
          </a:solidFill>
          <a:ln/>
        </p:spPr>
      </p:sp>
      <p:sp>
        <p:nvSpPr>
          <p:cNvPr id="30" name="Text 28"/>
          <p:cNvSpPr/>
          <p:nvPr/>
        </p:nvSpPr>
        <p:spPr>
          <a:xfrm>
            <a:off x="5660136" y="28346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Retreat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74052" y="2103120"/>
            <a:ext cx="54864" cy="0"/>
          </a:xfrm>
          <a:prstGeom prst="line">
            <a:avLst/>
          </a:prstGeom>
          <a:noFill/>
          <a:ln w="25400">
            <a:solidFill>
              <a:srgbClr val="1DB95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33488" y="10058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0664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Familiar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24928" y="14173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old playlist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424928" y="19659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tightens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24928" y="2834640"/>
            <a:ext cx="1517904" cy="310896"/>
          </a:xfrm>
          <a:prstGeom prst="roundRect">
            <a:avLst>
              <a:gd name="adj" fmla="val 23529"/>
            </a:avLst>
          </a:prstGeom>
          <a:solidFill>
            <a:srgbClr val="E7F6EC"/>
          </a:solidFill>
          <a:ln/>
        </p:spPr>
      </p:sp>
      <p:sp>
        <p:nvSpPr>
          <p:cNvPr id="37" name="Text 35"/>
          <p:cNvSpPr/>
          <p:nvPr/>
        </p:nvSpPr>
        <p:spPr>
          <a:xfrm>
            <a:off x="7424928" y="2834640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429000"/>
            <a:ext cx="8595360" cy="1143000"/>
          </a:xfrm>
          <a:prstGeom prst="roundRect">
            <a:avLst>
              <a:gd name="adj" fmla="val 5600"/>
            </a:avLst>
          </a:prstGeom>
          <a:solidFill>
            <a:srgbClr val="FCF3D9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5295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BREAKDOWN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7856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isn't a bad recommendation — it's the silent skip at stage 4.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unfamiliar track arrives with no story, no trust signal, no reason to risk a listen. So the user retreats, the loop tightens, and the algorithm reads the skip as 'they didn't like it' — narrowing further.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isn't accuracy. It's acceptance.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103327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" y="128930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Recs arrive with no reason to trust them → users skip the unfamiliar and retreat to the familiar.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96012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82112" y="103327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feels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82112" y="128930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Engaged Explorers — high-tenure Premium power users who want new music but feel trapped.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" y="199339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· users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224942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genuinely new music they'll love, without gambling a skip.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63240" y="19202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82112" y="199339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· Spotify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82112" y="224942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Re-ignite discovery for the highest-LTV cohort → retention + session depth.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" y="29535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know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" y="320954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7,296 reviews: stale/repetitive = #1 discovery complaint; cross-source, cross-segment.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63240" y="28803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82112" y="29535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82112" y="320954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upgrade improves accuracy &amp; widens the acceptance gap. No one owns it yet.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960120"/>
            <a:ext cx="292608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80760" y="1060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SIZING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371600"/>
            <a:ext cx="2286000" cy="2286000"/>
          </a:xfrm>
          <a:prstGeom prst="ellipse">
            <a:avLst/>
          </a:prstGeom>
          <a:solidFill>
            <a:srgbClr val="E7F6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1783080"/>
            <a:ext cx="1691640" cy="1691640"/>
          </a:xfrm>
          <a:prstGeom prst="ellipse">
            <a:avLst/>
          </a:prstGeom>
          <a:solidFill>
            <a:srgbClr val="CDEBD7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9400" y="2286000"/>
            <a:ext cx="1097280" cy="109728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listeners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~263M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25420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Engaged</a:t>
            </a:r>
            <a:endParaRPr lang="en-US" sz="8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38862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Engaged Explorers: highest LTV, feel the pain most, most articulate. Win them → expand to all Premium.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break the bubble. Only one earns trust.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965960"/>
          </a:xfrm>
          <a:prstGeom prst="roundRect">
            <a:avLst>
              <a:gd name="adj" fmla="val 3256"/>
            </a:avLst>
          </a:prstGeom>
          <a:solidFill>
            <a:srgbClr val="E6EFF7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3192" y="10607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Steerable 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" y="13350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3192" y="1572768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tell discovery what you want in plain language. Powerful — but Spotify already shipped Prompted Playlist / AI DJ.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960120"/>
            <a:ext cx="2011680" cy="1965960"/>
          </a:xfrm>
          <a:prstGeom prst="roundRect">
            <a:avLst>
              <a:gd name="adj" fmla="val 3256"/>
            </a:avLst>
          </a:prstGeom>
          <a:solidFill>
            <a:srgbClr val="E6EFF7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0607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vouching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42032" y="13350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42032" y="1572768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'liked by a friend'. Strong trust — but Spotify's social graph is thin; cold-start kills it.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2011680" cy="1965960"/>
          </a:xfrm>
          <a:prstGeom prst="roundRect">
            <a:avLst>
              <a:gd name="adj" fmla="val 3256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106070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Repeat 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0872" y="133502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/ PERSUADE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90872" y="1572768"/>
            <a:ext cx="17739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introduces each new track with a personalized story (why YOU'll like it) + trust layer. Earns acceptance.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08960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 Repeat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3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insight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earned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feasibility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moat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724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6B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663440" y="3108960"/>
            <a:ext cx="4206240" cy="1463040"/>
          </a:xfrm>
          <a:prstGeom prst="roundRect">
            <a:avLst>
              <a:gd name="adj" fmla="val 4375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46320" y="3200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OFF REPEAT WINS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46320" y="34564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Keeps the user the decider — supports judgment, doesn't replace it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Targets the real failure: the unfamiliar arriving with no reason to try it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Stakes-adaptive: light for casual, rich for high-intent discovery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 moat: a personalized taste-narrative profile rivals can't copy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21" name="Text 18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On Repeat. Meet Off Repeat.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Repeat is the friend who puts you on. Generative AI writes a unique, grounded reason to press play for every track — impossible to template or hand-author at scale. Recommendation picks the song; AI earns the play. Trust scales in three layers: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32004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2148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  Real friend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3682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“Liked by Nitya” — strongest trust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670048"/>
            <a:ext cx="32004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7157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B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◑  AI taste-twin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352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“Popular with your taste”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236976"/>
            <a:ext cx="32004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2826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C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  AI 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02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— works with zero friends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39319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Live prototype + workflow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github.com/arjuncooliitr/spotify-discovery-engine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03320" y="960120"/>
            <a:ext cx="5166360" cy="3611880"/>
          </a:xfrm>
          <a:prstGeom prst="roundRect">
            <a:avLst>
              <a:gd name="adj" fmla="val 2532"/>
            </a:avLst>
          </a:prstGeom>
          <a:solidFill>
            <a:srgbClr val="14110F"/>
          </a:solidFill>
          <a:ln/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1097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 Off Repeat — for someone who loves Tame Impala + lo-fi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1463040"/>
            <a:ext cx="4709160" cy="896112"/>
          </a:xfrm>
          <a:prstGeom prst="roundRect">
            <a:avLst>
              <a:gd name="adj" fmla="val 7143"/>
            </a:avLst>
          </a:prstGeom>
          <a:solidFill>
            <a:srgbClr val="201C1A"/>
          </a:solidFill>
          <a:ln/>
        </p:spPr>
      </p:sp>
      <p:sp>
        <p:nvSpPr>
          <p:cNvPr id="18" name="Text 16"/>
          <p:cNvSpPr/>
          <p:nvPr/>
        </p:nvSpPr>
        <p:spPr>
          <a:xfrm>
            <a:off x="4069080" y="1527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Crumb — “Locket”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1536192"/>
            <a:ext cx="960120" cy="237744"/>
          </a:xfrm>
          <a:prstGeom prst="roundRect">
            <a:avLst>
              <a:gd name="adj" fmla="val 38462"/>
            </a:avLst>
          </a:prstGeom>
          <a:solidFill>
            <a:srgbClr val="1DB954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1536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 YOU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069080" y="174650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psych-pop · Brooklyn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69080" y="1920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woozy Tame-Impala basslines you love — from a Brooklyn band you've never played.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69080" y="215798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  Liked by Nitya · your friend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931920" y="2450592"/>
            <a:ext cx="4709160" cy="896112"/>
          </a:xfrm>
          <a:prstGeom prst="roundRect">
            <a:avLst>
              <a:gd name="adj" fmla="val 7143"/>
            </a:avLst>
          </a:prstGeom>
          <a:solidFill>
            <a:srgbClr val="201C1A"/>
          </a:solidFill>
          <a:ln/>
        </p:spPr>
      </p:sp>
      <p:sp>
        <p:nvSpPr>
          <p:cNvPr id="25" name="Text 23"/>
          <p:cNvSpPr/>
          <p:nvPr/>
        </p:nvSpPr>
        <p:spPr>
          <a:xfrm>
            <a:off x="4069080" y="25146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 High Club — “Homage”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0" y="2523744"/>
            <a:ext cx="960120" cy="237744"/>
          </a:xfrm>
          <a:prstGeom prst="roundRect">
            <a:avLst>
              <a:gd name="adj" fmla="val 38462"/>
            </a:avLst>
          </a:prstGeom>
          <a:solidFill>
            <a:srgbClr val="1DB954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25237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 YOU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069080" y="273405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psych-pop · Los Angeles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69080" y="29077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lush, jazzy psychedelia — that dreamy haze you love, at a Sunday tempo.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69080" y="3145536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Popular with your taste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31920" y="3438144"/>
            <a:ext cx="4709160" cy="896112"/>
          </a:xfrm>
          <a:prstGeom prst="roundRect">
            <a:avLst>
              <a:gd name="adj" fmla="val 7143"/>
            </a:avLst>
          </a:prstGeom>
          <a:solidFill>
            <a:srgbClr val="201C1A"/>
          </a:solidFill>
          <a:ln/>
        </p:spPr>
      </p:sp>
      <p:sp>
        <p:nvSpPr>
          <p:cNvPr id="32" name="Text 30"/>
          <p:cNvSpPr/>
          <p:nvPr/>
        </p:nvSpPr>
        <p:spPr>
          <a:xfrm>
            <a:off x="4069080" y="35021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I Trust — “Show Me How”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0" y="3511296"/>
            <a:ext cx="960120" cy="237744"/>
          </a:xfrm>
          <a:prstGeom prst="roundRect">
            <a:avLst>
              <a:gd name="adj" fmla="val 38462"/>
            </a:avLst>
          </a:prstGeom>
          <a:solidFill>
            <a:srgbClr val="1DB954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35112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 YOU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69080" y="37216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A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 · Montreal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69080" y="38953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hushed lo-fi groove you keep on repeat — still way under the radar.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69080" y="413308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Picked for you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9" name="Text 37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stale feed to a song you'll actually try.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9326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&amp; DATA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206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61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Taste profile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listening history + saves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206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8653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Candidate retrieval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939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match → fresh, long-tail tracks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4206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4688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Novelty filter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anything already in the library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206240" cy="530352"/>
          </a:xfrm>
          <a:prstGeom prst="roundRect">
            <a:avLst>
              <a:gd name="adj" fmla="val 12069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0723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Grounded narrative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3009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the 'why', grounded in real artist facts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621024"/>
            <a:ext cx="420624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6758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Serve + learn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9044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badge + story; learns what you adopt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9326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HOLDS UP UNDER PRESSURE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207008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12801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facts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1536192"/>
            <a:ext cx="3895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 feature can't lie → every story is grounded in a real artist-data source (RAG). Same no-fabrication guardrail as the engine.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286000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18888" y="235915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 (no friends/history)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2615184"/>
            <a:ext cx="3895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always works alone; taste-twin fills in; social is a bonus, never required.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364992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18888" y="343814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fatigue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18888" y="3694176"/>
            <a:ext cx="3895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Lean-in moments only. Default = one glanceable line; full story on tap. Silent in background listening.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432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i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is the user's adoption profile — it compounds and can't be copied.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they discover — or just get served?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166360" cy="1371600"/>
          </a:xfrm>
          <a:prstGeom prst="roundRect">
            <a:avLst>
              <a:gd name="adj" fmla="val 4667"/>
            </a:avLst>
          </a:prstGeom>
          <a:solidFill>
            <a:srgbClr val="E7F6EC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607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NORTH-STAR · MEANINGFUL DISCOVERY RATE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weekly listening on newly-adopted artists — baseline ~0 → 35% (M3) → 60% (M12). Counts only when: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53619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922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 the user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03120" y="1737360"/>
            <a:ext cx="153619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7922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01168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played ≥30s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49040" y="1737360"/>
            <a:ext cx="1536192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7922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2011680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+ returned in 7d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395728"/>
            <a:ext cx="5166360" cy="457200"/>
          </a:xfrm>
          <a:prstGeom prst="roundRect">
            <a:avLst>
              <a:gd name="adj" fmla="val 14000"/>
            </a:avLst>
          </a:prstGeom>
          <a:solidFill>
            <a:srgbClr val="E6EFF7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441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83080" y="24414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Story-attach try-rate · A/B story vs none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24414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+25%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5166360" cy="457200"/>
          </a:xfrm>
          <a:prstGeom prst="roundRect">
            <a:avLst>
              <a:gd name="adj" fmla="val 14000"/>
            </a:avLst>
          </a:prstGeom>
          <a:solidFill>
            <a:srgbClr val="E6EFF7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29718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83080" y="297180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New-artist save-rate · 7-day return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29718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upward by M3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456432"/>
            <a:ext cx="5166360" cy="457200"/>
          </a:xfrm>
          <a:prstGeom prst="roundRect">
            <a:avLst>
              <a:gd name="adj" fmla="val 14000"/>
            </a:avLst>
          </a:prstGeom>
          <a:solidFill>
            <a:srgbClr val="FCF3D9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35021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83080" y="35021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Skip-rate · session time (protect core)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97680" y="35021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/ down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04164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— P1 (M0–3): shadow-test on 1% of Engaged Explorers · P2 (M3–6): 10% + guardrail gates · P3 (M6–12): all Premium if discovery-rate ↑ and skip-rate flat.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40740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i="1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becomes a launchpad — Off Repeat doesn't chase better recs, it earns the play.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23560" y="960120"/>
            <a:ext cx="3246120" cy="3611880"/>
          </a:xfrm>
          <a:prstGeom prst="roundRect">
            <a:avLst>
              <a:gd name="adj" fmla="val 1972"/>
            </a:avLst>
          </a:prstGeom>
          <a:solidFill>
            <a:srgbClr val="FBE3DD"/>
          </a:solidFill>
          <a:ln w="12700">
            <a:solidFill>
              <a:srgbClr val="D8E5DC"/>
            </a:solidFill>
            <a:prstDash val="solid"/>
          </a:ln>
          <a:effectLst>
            <a:outerShdw sx="100000" sy="100000" kx="0" ky="0" algn="bl" rotWithShape="0" blurRad="88900" dist="25400" dir="5400000">
              <a:srgbClr val="6B6B6B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79008" y="10607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E6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CAN FAIL · WHAT WE ACCEPT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79008" y="137160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story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79008" y="16093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ground in real facts; guardrail drops invented claims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79008" y="213969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becomes a crutch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79008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measure if users still explore unaided; ease off over time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79008" y="290779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Stream-farming the reward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79008" y="31455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reward adoption (saved + returned), not raw plays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79008" y="367588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fatigue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79008" y="39136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lean-in only; one glanceable line by default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E6B37"/>
          </a:solidFill>
          <a:ln/>
        </p:spPr>
      </p:sp>
      <p:sp>
        <p:nvSpPr>
          <p:cNvPr id="41" name="Text 39"/>
          <p:cNvSpPr/>
          <p:nvPr/>
        </p:nvSpPr>
        <p:spPr>
          <a:xfrm>
            <a:off x="182880" y="4754880"/>
            <a:ext cx="8778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&amp; Edge</a:t>
            </a:r>
            <a:pPr algn="ctr" indent="0" marL="0">
              <a:buNone/>
            </a:pPr>
            <a:r>
              <a:rPr lang="en-US" sz="8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Risks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 Repeat — Spotify Discovery (Top-Fellow format)</dc:title>
  <dc:subject>PptxGenJS Presentation</dc:subject>
  <dc:creator>Arjun</dc:creator>
  <cp:lastModifiedBy>Arjun</cp:lastModifiedBy>
  <cp:revision>1</cp:revision>
  <dcterms:created xsi:type="dcterms:W3CDTF">2026-07-04T18:06:11Z</dcterms:created>
  <dcterms:modified xsi:type="dcterms:W3CDTF">2026-07-04T18:06:11Z</dcterms:modified>
</cp:coreProperties>
</file>