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6B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457200" cy="457200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48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6400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9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NEXTLEAP PM FELLOWSHIP   ·   SPOTIFY · GROWTH TEAM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30352" y="14173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2377440" cy="64008"/>
          </a:xfrm>
          <a:prstGeom prst="rect">
            <a:avLst/>
          </a:prstGeom>
          <a:solidFill>
            <a:srgbClr val="1DB95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74320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2F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perfected recommendation. Discovery still stalls — because the gap was never accuracy. It's acceptance: a reason to press play on the unfamiliar.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37033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7DE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have On Repeat. Meet Off Repeat.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431596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Live prototype + AI workflow   · 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github.com/arjuncooliitr/spotify-discovery-engine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66928" y="464515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9CC7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Figures: Spotify reported MAU / Premium; repeat-listening &amp; genre-diversity from published personalization research. Reviews: 7,296 analyzed via an AI review engine.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perfected recommendation. Discovery still stalls.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057400" cy="1234440"/>
          </a:xfrm>
          <a:prstGeom prst="roundRect">
            <a:avLst>
              <a:gd name="adj" fmla="val 5185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06070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~675M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84048" y="15910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active users (reported)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468880" y="960120"/>
            <a:ext cx="2057400" cy="1234440"/>
          </a:xfrm>
          <a:prstGeom prst="roundRect">
            <a:avLst>
              <a:gd name="adj" fmla="val 5185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60320" y="106070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263M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78608" y="15910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subscribers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960120"/>
            <a:ext cx="2057400" cy="1234440"/>
          </a:xfrm>
          <a:prstGeom prst="roundRect">
            <a:avLst>
              <a:gd name="adj" fmla="val 5185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54880" y="106070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773168" y="15910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listening is repeat / familiar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858000" y="960120"/>
            <a:ext cx="2057400" cy="1234440"/>
          </a:xfrm>
          <a:prstGeom prst="roundRect">
            <a:avLst>
              <a:gd name="adj" fmla="val 5185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49440" y="106070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967728" y="15910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diversity in 6 mo · Discover Weekly (research)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2331720"/>
            <a:ext cx="521208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245059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DISCOVERY PARADOX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27249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owns one of the world's best recommenders — so the bottleneck was never finding new music. It's that engaged listeners won't act on it.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346704"/>
            <a:ext cx="137160" cy="137160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26440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 exploits familiarity —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more you listen, the tighter the loop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767328"/>
            <a:ext cx="137160" cy="137160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68503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Unfamiliar = unrewarded —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reason to trust a new pick, so users skip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" y="4187952"/>
            <a:ext cx="137160" cy="137160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410565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Loyalty backfires —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heaviest users get the stalest discovery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0" y="2331720"/>
            <a:ext cx="3200400" cy="2286000"/>
          </a:xfrm>
          <a:prstGeom prst="roundRect">
            <a:avLst>
              <a:gd name="adj" fmla="val 280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852160" y="245059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MISSING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852160" y="274320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platform competes on recommendation accuracy. None has built the acceptance layer — a reason to press play on the unfamiliar.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852160" y="411480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gap is acceptance, not accuracy.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0" name="Text 28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optimized accuracy. Nobody optimized acceptance.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74320" y="93268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ECOSYSTEM SOLVED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1207008"/>
            <a:ext cx="2971800" cy="493776"/>
          </a:xfrm>
          <a:prstGeom prst="roundRect">
            <a:avLst>
              <a:gd name="adj" fmla="val 12963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2527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accuracy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481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· Apple · YouTube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74320" y="1773936"/>
            <a:ext cx="2971800" cy="493776"/>
          </a:xfrm>
          <a:prstGeom prst="roundRect">
            <a:avLst>
              <a:gd name="adj" fmla="val 12963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18196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Natural-language playlists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0482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DJ · Prompted Playlist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2340864"/>
            <a:ext cx="2971800" cy="493776"/>
          </a:xfrm>
          <a:prstGeom prst="roundRect">
            <a:avLst>
              <a:gd name="adj" fmla="val 12963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11480" y="238658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 context / credits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61518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SongDNA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74320" y="30175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NOBODY SOLVED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291840"/>
            <a:ext cx="2971800" cy="365760"/>
          </a:xfrm>
          <a:prstGeom prst="roundRect">
            <a:avLst>
              <a:gd name="adj" fmla="val 17500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11480" y="33192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A reason to TRY the unfamiliar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4320" y="3712464"/>
            <a:ext cx="2971800" cy="365760"/>
          </a:xfrm>
          <a:prstGeom prst="roundRect">
            <a:avLst>
              <a:gd name="adj" fmla="val 17500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373989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Trust in a brand-new rec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4133088"/>
            <a:ext cx="2971800" cy="365760"/>
          </a:xfrm>
          <a:prstGeom prst="roundRect">
            <a:avLst>
              <a:gd name="adj" fmla="val 17500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11480" y="416052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Why THIS song, for YOU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429000" y="932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EACH EXISTING FIX FALLS SHORT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429000" y="1207008"/>
            <a:ext cx="265176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566160" y="1280160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Weekly / Daylist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66160" y="1536192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Personalizes you into a tighter loop — diversity drops over time.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429000" y="2121408"/>
            <a:ext cx="265176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566160" y="2194560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DJ / Prompted Playlist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66160" y="2450592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Lets you ask, but still just serves — generic, not personal to your history.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429000" y="3035808"/>
            <a:ext cx="265176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566160" y="3108960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SongDNA / Smart Shuffle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566160" y="3364992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Facts and reshuffles — gives no reason to care about a new track.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263640" y="960120"/>
            <a:ext cx="2606040" cy="3611880"/>
          </a:xfrm>
          <a:prstGeom prst="roundRect">
            <a:avLst>
              <a:gd name="adj" fmla="val 2456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46520" y="10972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HYPOTHESIS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46520" y="1389888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is a solved problem. The unsolved problem is acceptance: users won't act on a recommendation they have no reason to trust.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unfamiliar arrives with no story and no signal, the safe move is to skip — back to the familiar.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46520" y="3611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don't need better recs. They need a reason to say yes to the ones they already get.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6" name="Text 34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didn't survey 30 people. We analyzed 7,296 reviews.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880360" cy="3200400"/>
          </a:xfrm>
          <a:prstGeom prst="roundRect">
            <a:avLst>
              <a:gd name="adj" fmla="val 2222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7899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REVIEW ENGINE = RESEARCH AT SCALE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· Play Store · YouTube · Community → one grounded pipeline. Every claim cites a real review; no fabrication.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7,296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22951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analyzed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6974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1,147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27523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structured-labeled (LLM)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31546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71600" y="32095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frustration = stale / repetitive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1,933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371600" y="36667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(from ★ ratings)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91840" y="960120"/>
            <a:ext cx="2880360" cy="32004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474720" y="107899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REAL USERS SAID (CITED)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9000" y="1371600"/>
            <a:ext cx="2606040" cy="786384"/>
          </a:xfrm>
          <a:prstGeom prst="roundRect">
            <a:avLst>
              <a:gd name="adj" fmla="val 814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566160" y="14356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“…it locks us into a comfortable but repetitive bubble.”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566160" y="193852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· #6077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429000" y="2267712"/>
            <a:ext cx="2606040" cy="786384"/>
          </a:xfrm>
          <a:prstGeom prst="roundRect">
            <a:avLst>
              <a:gd name="adj" fmla="val 814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566160" y="2331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“…stuck in a sink hole surrounded by my 2020 top songs.”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566160" y="283464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· #6072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429000" y="3163824"/>
            <a:ext cx="2606040" cy="786384"/>
          </a:xfrm>
          <a:prstGeom prst="roundRect">
            <a:avLst>
              <a:gd name="adj" fmla="val 814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566160" y="32278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“Repeating the same 30 songs out of 3000 isn't shuffle.”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566160" y="373075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· #4896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309360" y="960120"/>
            <a:ext cx="2560320" cy="3200400"/>
          </a:xfrm>
          <a:prstGeom prst="roundRect">
            <a:avLst>
              <a:gd name="adj" fmla="val 2500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46520" y="107899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+ SECONDARY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46520" y="1371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Planned: 5–6 interviews with Engaged Explorers (Premium power users).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slot in verbatim quotes ]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46520" y="2423160"/>
            <a:ext cx="2286000" cy="0"/>
          </a:xfrm>
          <a:prstGeom prst="line">
            <a:avLst/>
          </a:prstGeom>
          <a:noFill/>
          <a:ln w="12700">
            <a:solidFill>
              <a:srgbClr val="D8E5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251460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research: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Discover Weekly cut genre diversity ~12% in 6 mo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LLMs/algorithms narrow taste as engagement rises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Personalization → homogenization (popularity bias)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74320" y="422452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aren't failing to discover — they're refusing to accept.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3" name="Text 31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want new music. They just won't press play on it.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74320" y="93268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SEGMENTATION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234440" y="137160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298448" y="1463040"/>
            <a:ext cx="1472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Comfort Seeker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298448" y="192024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openness · passive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298448" y="2176272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loves the loop, won't leave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880360" y="137160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44368" y="1463040"/>
            <a:ext cx="1472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Digger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944368" y="192024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openness · active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944368" y="2176272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self-discovers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34440" y="25603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298448" y="2651760"/>
            <a:ext cx="1472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Passive Repeater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298448" y="310896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openness · passive-skip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298448" y="3364992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skips new, no effort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880360" y="25603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CF3D9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880360" y="2560320"/>
            <a:ext cx="1600200" cy="1143000"/>
          </a:xfrm>
          <a:prstGeom prst="roundRect">
            <a:avLst>
              <a:gd name="adj" fmla="val 5600"/>
            </a:avLst>
          </a:prstGeom>
          <a:ln w="31750">
            <a:solidFill>
              <a:srgbClr val="0E6B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44368" y="2651760"/>
            <a:ext cx="1472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Bubble-Trapped Explorer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944368" y="310896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openness · high effort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944368" y="3364992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WANTS new, can't accept it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234440" y="37673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▲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74320" y="41605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openness →   ·   effort ↓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0" y="960120"/>
            <a:ext cx="4297680" cy="3611880"/>
          </a:xfrm>
          <a:prstGeom prst="roundRect">
            <a:avLst>
              <a:gd name="adj" fmla="val 177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1143000"/>
            <a:ext cx="777240" cy="777240"/>
          </a:xfrm>
          <a:prstGeom prst="ellipse">
            <a:avLst/>
          </a:prstGeom>
          <a:solidFill>
            <a:srgbClr val="E7F6EC"/>
          </a:solidFill>
          <a:ln w="19050">
            <a:solidFill>
              <a:srgbClr val="1DB9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0" y="11430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669280" y="11887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Aarav G.  </a:t>
            </a:r>
            <a:pPr indent="0" marL="0">
              <a:buNone/>
            </a:pPr>
            <a:r>
              <a:rPr lang="en-US" sz="13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27 · Bengaluru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669280" y="14813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· 4 yrs · 15 hrs/wk · 2,000+ saved songs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669280" y="169164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Bubble-Trapped Explorer”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54880" y="205740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JOB-TO-BE-DONE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754880" y="2304288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“When I open Spotify, I want to hear something genuinely new I'll love — without gambling my limited listening time on a skip.”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754880" y="297180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POINTS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754880" y="3218688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Recs feel like a rerun of his own history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reason to trust an unfamiliar track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Defaults to the same playlists, then feels stuck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754880" y="40690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want new music — but everything it shows me, I've basically already heard.”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6" name="Text 34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doesn't fail at the song. It fails at the skip.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1700784" cy="2286000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47472" y="1097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Open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Wants something new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65760" y="19659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2834640"/>
            <a:ext cx="1517904" cy="310896"/>
          </a:xfrm>
          <a:prstGeom prst="roundRect">
            <a:avLst>
              <a:gd name="adj" fmla="val 23529"/>
            </a:avLst>
          </a:prstGeom>
          <a:solidFill>
            <a:srgbClr val="E7F6EC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28346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Hopeful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979676" y="2103120"/>
            <a:ext cx="54864" cy="0"/>
          </a:xfrm>
          <a:prstGeom prst="line">
            <a:avLst/>
          </a:prstGeom>
          <a:noFill/>
          <a:ln w="25400">
            <a:solidFill>
              <a:srgbClr val="1DB95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039112" y="1005840"/>
            <a:ext cx="1700784" cy="2286000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112264" y="1097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Served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130552" y="141732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Weekly loads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130552" y="19659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familiar-leaning picks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130552" y="2834640"/>
            <a:ext cx="1517904" cy="310896"/>
          </a:xfrm>
          <a:prstGeom prst="roundRect">
            <a:avLst>
              <a:gd name="adj" fmla="val 23529"/>
            </a:avLst>
          </a:prstGeom>
          <a:solidFill>
            <a:srgbClr val="E7F6EC"/>
          </a:solidFill>
          <a:ln/>
        </p:spPr>
      </p:sp>
      <p:sp>
        <p:nvSpPr>
          <p:cNvPr id="16" name="Text 14"/>
          <p:cNvSpPr/>
          <p:nvPr/>
        </p:nvSpPr>
        <p:spPr>
          <a:xfrm>
            <a:off x="2130552" y="28346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744468" y="2103120"/>
            <a:ext cx="54864" cy="0"/>
          </a:xfrm>
          <a:prstGeom prst="line">
            <a:avLst/>
          </a:prstGeom>
          <a:noFill/>
          <a:ln w="25400">
            <a:solidFill>
              <a:srgbClr val="1DB95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803904" y="1005840"/>
            <a:ext cx="1700784" cy="2286000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877056" y="1097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Unfamiliar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895344" y="141732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track appears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895344" y="19659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signal, no story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895344" y="2834640"/>
            <a:ext cx="1517904" cy="310896"/>
          </a:xfrm>
          <a:prstGeom prst="roundRect">
            <a:avLst>
              <a:gd name="adj" fmla="val 23529"/>
            </a:avLst>
          </a:prstGeom>
          <a:solidFill>
            <a:srgbClr val="E7F6EC"/>
          </a:solidFill>
          <a:ln/>
        </p:spPr>
      </p:sp>
      <p:sp>
        <p:nvSpPr>
          <p:cNvPr id="23" name="Text 21"/>
          <p:cNvSpPr/>
          <p:nvPr/>
        </p:nvSpPr>
        <p:spPr>
          <a:xfrm>
            <a:off x="3895344" y="28346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509260" y="2103120"/>
            <a:ext cx="54864" cy="0"/>
          </a:xfrm>
          <a:prstGeom prst="line">
            <a:avLst/>
          </a:prstGeom>
          <a:noFill/>
          <a:ln w="25400">
            <a:solidFill>
              <a:srgbClr val="1DB95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568696" y="1005840"/>
            <a:ext cx="1700784" cy="2286000"/>
          </a:xfrm>
          <a:prstGeom prst="roundRect">
            <a:avLst>
              <a:gd name="adj" fmla="val 3763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641848" y="1097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Skip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0136" y="141732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Skips after 5 sec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660136" y="19659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to trust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660136" y="2834640"/>
            <a:ext cx="1517904" cy="310896"/>
          </a:xfrm>
          <a:prstGeom prst="roundRect">
            <a:avLst>
              <a:gd name="adj" fmla="val 23529"/>
            </a:avLst>
          </a:prstGeom>
          <a:solidFill>
            <a:srgbClr val="0E6B37"/>
          </a:solidFill>
          <a:ln/>
        </p:spPr>
      </p:sp>
      <p:sp>
        <p:nvSpPr>
          <p:cNvPr id="30" name="Text 28"/>
          <p:cNvSpPr/>
          <p:nvPr/>
        </p:nvSpPr>
        <p:spPr>
          <a:xfrm>
            <a:off x="5660136" y="28346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Retreat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274052" y="2103120"/>
            <a:ext cx="54864" cy="0"/>
          </a:xfrm>
          <a:prstGeom prst="line">
            <a:avLst/>
          </a:prstGeom>
          <a:noFill/>
          <a:ln w="25400">
            <a:solidFill>
              <a:srgbClr val="1DB954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7333488" y="1005840"/>
            <a:ext cx="1700784" cy="2286000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406640" y="1097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Familiar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424928" y="141732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old playlist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424928" y="19659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tightens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424928" y="2834640"/>
            <a:ext cx="1517904" cy="310896"/>
          </a:xfrm>
          <a:prstGeom prst="roundRect">
            <a:avLst>
              <a:gd name="adj" fmla="val 23529"/>
            </a:avLst>
          </a:prstGeom>
          <a:solidFill>
            <a:srgbClr val="E7F6EC"/>
          </a:solidFill>
          <a:ln/>
        </p:spPr>
      </p:sp>
      <p:sp>
        <p:nvSpPr>
          <p:cNvPr id="37" name="Text 35"/>
          <p:cNvSpPr/>
          <p:nvPr/>
        </p:nvSpPr>
        <p:spPr>
          <a:xfrm>
            <a:off x="7424928" y="28346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74320" y="3429000"/>
            <a:ext cx="8595360" cy="1143000"/>
          </a:xfrm>
          <a:prstGeom prst="roundRect">
            <a:avLst>
              <a:gd name="adj" fmla="val 5600"/>
            </a:avLst>
          </a:prstGeom>
          <a:solidFill>
            <a:srgbClr val="FCF3D9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57200" y="352958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BREAKDOWN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7200" y="3785616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failure isn't a bad recommendation — it's the silent skip at stage 4.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unfamiliar track arrives with no story, no trust signal, no reason to risk a listen. So the user retreats, the loop tightens, and the algorithm reads the skip as 'they didn't like it' — narrowing further.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42" name="Text 40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isn't accuracy. It's acceptance.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93192" y="103327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true problem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93192" y="128930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Recs arrive with no reason to trust them → users skip the unfamiliar and retreat to the familiar.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063240" y="96012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182112" y="103327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feels 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82112" y="128930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Engaged Explorers — high-tenure Premium power users who want new music but feel trapped.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92024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93192" y="199339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· users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3192" y="224942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 genuinely new music they'll love, without gambling a skip.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063240" y="192024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82112" y="199339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· Spotify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182112" y="224942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Re-ignite discovery for the highest-LTV cohort → retention + session depth.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288036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93192" y="295351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know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3192" y="320954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7,296 reviews: stale/repetitive = #1 discovery complaint; cross-source, cross-segment.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063240" y="288036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182112" y="295351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82112" y="320954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model upgrade improves accuracy &amp; widens the acceptance gap. No one owns it yet.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943600" y="960120"/>
            <a:ext cx="292608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080760" y="106070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SIZING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26480" y="1371600"/>
            <a:ext cx="2286000" cy="2286000"/>
          </a:xfrm>
          <a:prstGeom prst="ellipse">
            <a:avLst/>
          </a:prstGeom>
          <a:solidFill>
            <a:srgbClr val="E7F6EC"/>
          </a:solidFill>
          <a:ln/>
        </p:spPr>
      </p:sp>
      <p:sp>
        <p:nvSpPr>
          <p:cNvPr id="25" name="Shape 23"/>
          <p:cNvSpPr/>
          <p:nvPr/>
        </p:nvSpPr>
        <p:spPr>
          <a:xfrm>
            <a:off x="6355080" y="1783080"/>
            <a:ext cx="1691640" cy="1691640"/>
          </a:xfrm>
          <a:prstGeom prst="ellipse">
            <a:avLst/>
          </a:prstGeom>
          <a:solidFill>
            <a:srgbClr val="CDEBD7"/>
          </a:solidFill>
          <a:ln/>
        </p:spPr>
      </p:sp>
      <p:sp>
        <p:nvSpPr>
          <p:cNvPr id="26" name="Shape 24"/>
          <p:cNvSpPr/>
          <p:nvPr/>
        </p:nvSpPr>
        <p:spPr>
          <a:xfrm>
            <a:off x="6629400" y="2286000"/>
            <a:ext cx="1097280" cy="1097280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27" name="Text 25"/>
          <p:cNvSpPr/>
          <p:nvPr/>
        </p:nvSpPr>
        <p:spPr>
          <a:xfrm>
            <a:off x="6172200" y="14630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listeners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1874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~263M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629400" y="254203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Engaged</a:t>
            </a:r>
            <a:endParaRPr lang="en-US" sz="8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080760" y="388620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Engaged Explorers: highest LTV, feel the pain most, most articulate. Win them → expand to all Premium.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2" name="Text 30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ways to break the bubble. Only one earns trust.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011680" cy="1965960"/>
          </a:xfrm>
          <a:prstGeom prst="roundRect">
            <a:avLst>
              <a:gd name="adj" fmla="val 3256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93192" y="106070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Steerable agent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93192" y="133502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93192" y="1572768"/>
            <a:ext cx="17739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tell discovery what you want in plain language. Powerful — but Spotify already shipped Prompted Playlist / AI DJ.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3160" y="960120"/>
            <a:ext cx="2011680" cy="1965960"/>
          </a:xfrm>
          <a:prstGeom prst="roundRect">
            <a:avLst>
              <a:gd name="adj" fmla="val 3256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42032" y="106070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vouching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42032" y="133502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VOUCH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542032" y="1572768"/>
            <a:ext cx="17739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'liked by a friend'. Strong trust — but Spotify's social graph is thin; cold-start kills it.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0" y="960120"/>
            <a:ext cx="2011680" cy="1965960"/>
          </a:xfrm>
          <a:prstGeom prst="roundRect">
            <a:avLst>
              <a:gd name="adj" fmla="val 3256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90872" y="106070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90872" y="133502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DECOMPOSE / PERSUADE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690872" y="1572768"/>
            <a:ext cx="17739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introduces each new track with a personalized story (why YOU'll like it) + trust layer. Earns acceptance.</a:t>
            </a:r>
            <a:endParaRPr lang="en-US" sz="9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108960"/>
          <a:ext cx="4206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914400"/>
                <a:gridCol w="9144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Steerable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Social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 Repeat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insight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 earned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feasibility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moat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6B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4663440" y="3108960"/>
            <a:ext cx="4206240" cy="1463040"/>
          </a:xfrm>
          <a:prstGeom prst="roundRect">
            <a:avLst>
              <a:gd name="adj" fmla="val 4375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846320" y="320040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OFF REPEAT WINS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846320" y="3456432"/>
            <a:ext cx="3886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Keeps the user the decider — supports judgment, doesn't replace it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Targets the real failure: the unfamiliar arriving with no reason to try it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Stakes-adaptive: light for casual, rich for high-intent discovery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 moat: a personalized taste-narrative profile rivals can't copy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21" name="Text 18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have On Repeat. Meet Off Repeat.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74320" y="96012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is the friend who puts you on. Generative AI writes a unique, grounded reason to press play for every track — impossible to template or hand-author at scale. Recommendation picks the song; AI earns the play. Trust scales in three layers: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2103120"/>
            <a:ext cx="320040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21488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B9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❤  Real friend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236829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“Liked by Nitya” — strongest trust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2670048"/>
            <a:ext cx="320040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27157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7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◑  AI taste-twin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935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“Popular with your taste”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3236976"/>
            <a:ext cx="320040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11480" y="32826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✎  AI story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350215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— works with zero friends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" y="3931920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Live prototype + workflow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github.com/arjuncooliitr/spotify-discovery-engine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703320" y="960120"/>
            <a:ext cx="5166360" cy="3611880"/>
          </a:xfrm>
          <a:prstGeom prst="roundRect">
            <a:avLst>
              <a:gd name="adj" fmla="val 2532"/>
            </a:avLst>
          </a:prstGeom>
          <a:solidFill>
            <a:srgbClr val="14110F"/>
          </a:solidFill>
          <a:ln/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931920" y="10972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🎧 Off Repeat — for someone who loves Tame Impala + lo-fi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931920" y="1463040"/>
            <a:ext cx="4709160" cy="896112"/>
          </a:xfrm>
          <a:prstGeom prst="roundRect">
            <a:avLst>
              <a:gd name="adj" fmla="val 7143"/>
            </a:avLst>
          </a:prstGeom>
          <a:solidFill>
            <a:srgbClr val="201C1A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152704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Crumb — “Locket”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498080" y="1536192"/>
            <a:ext cx="960120" cy="237744"/>
          </a:xfrm>
          <a:prstGeom prst="roundRect">
            <a:avLst>
              <a:gd name="adj" fmla="val 38462"/>
            </a:avLst>
          </a:prstGeom>
          <a:solidFill>
            <a:srgbClr val="1DB954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0" y="1536192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TO YOU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069080" y="1746504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FAF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psych-pop · Brooklyn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069080" y="192024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8D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woozy Tame-Impala basslines you love — from a Brooklyn band you've never played.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069080" y="2157984"/>
            <a:ext cx="4434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B9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❤  Liked by Nitya · your friend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931920" y="2450592"/>
            <a:ext cx="4709160" cy="896112"/>
          </a:xfrm>
          <a:prstGeom prst="roundRect">
            <a:avLst>
              <a:gd name="adj" fmla="val 7143"/>
            </a:avLst>
          </a:prstGeom>
          <a:solidFill>
            <a:srgbClr val="201C1A"/>
          </a:solidFill>
          <a:ln/>
        </p:spPr>
      </p:sp>
      <p:sp>
        <p:nvSpPr>
          <p:cNvPr id="25" name="Text 23"/>
          <p:cNvSpPr/>
          <p:nvPr/>
        </p:nvSpPr>
        <p:spPr>
          <a:xfrm>
            <a:off x="4069080" y="25146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Mild High Club — “Homage”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498080" y="2523744"/>
            <a:ext cx="960120" cy="237744"/>
          </a:xfrm>
          <a:prstGeom prst="roundRect">
            <a:avLst>
              <a:gd name="adj" fmla="val 38462"/>
            </a:avLst>
          </a:prstGeom>
          <a:solidFill>
            <a:srgbClr val="1DB954"/>
          </a:solidFill>
          <a:ln/>
        </p:spPr>
      </p:sp>
      <p:sp>
        <p:nvSpPr>
          <p:cNvPr id="27" name="Text 25"/>
          <p:cNvSpPr/>
          <p:nvPr/>
        </p:nvSpPr>
        <p:spPr>
          <a:xfrm>
            <a:off x="7498080" y="2523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TO YOU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069080" y="2734056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FAF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psych-pop · Los Angeles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069080" y="290779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8D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lush, jazzy psychedelia — that dreamy haze you love, at a Sunday tempo.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069080" y="3145536"/>
            <a:ext cx="4434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FB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 Popular with your taste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931920" y="3438144"/>
            <a:ext cx="4709160" cy="896112"/>
          </a:xfrm>
          <a:prstGeom prst="roundRect">
            <a:avLst>
              <a:gd name="adj" fmla="val 7143"/>
            </a:avLst>
          </a:prstGeom>
          <a:solidFill>
            <a:srgbClr val="201C1A"/>
          </a:solidFill>
          <a:ln/>
        </p:spPr>
      </p:sp>
      <p:sp>
        <p:nvSpPr>
          <p:cNvPr id="32" name="Text 30"/>
          <p:cNvSpPr/>
          <p:nvPr/>
        </p:nvSpPr>
        <p:spPr>
          <a:xfrm>
            <a:off x="4069080" y="35021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 I Trust — “Show Me How”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498080" y="3511296"/>
            <a:ext cx="960120" cy="237744"/>
          </a:xfrm>
          <a:prstGeom prst="roundRect">
            <a:avLst>
              <a:gd name="adj" fmla="val 38462"/>
            </a:avLst>
          </a:prstGeom>
          <a:solidFill>
            <a:srgbClr val="1DB954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0" y="3511296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TO YOU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069080" y="372160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FAF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indie · Montreal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069080" y="389534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8D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hushed lo-fi groove you keep on repeat — still way under the radar.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069080" y="4133088"/>
            <a:ext cx="4434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9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 Picked for you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9" name="Text 37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grounded engine, twice — to find the problem, then fix it.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AI REVIEW ENGINE — HOW WE FOUND THE PROBLEM (RESEARCH AT SCALE)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122529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9184" y="128016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9184" y="152704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· Play Store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 · Community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7,296 reviews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847088" y="142646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034540" y="122529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089404" y="128016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089404" y="152704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per-review LLM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coding (Groq)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607308" y="142646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794760" y="122529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849624" y="128016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 + retrieve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49624" y="152704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MiniLM 384-d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search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367528" y="142646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554980" y="122529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609844" y="128016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609844" y="152704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grounded, cited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 · no fabrication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7127748" y="142646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0" y="122529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CFEAD8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370064" y="128016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Insight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370064" y="152704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pain = stale/repeat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gap is ACCEPTANCE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74320" y="2103120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the finding is the product spec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74320" y="2377440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OFF REPEAT MVP — HOW WE ACT ON IT (LIVE, PER USER)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268833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9184" y="27432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29184" y="299008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listening history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saves · friends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847088" y="288950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2034540" y="268833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2089404" y="27432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 vector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089404" y="299008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 what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love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3607308" y="288950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3794760" y="268833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849624" y="27432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+ filter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849624" y="299008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novel, long-tail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the known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5367528" y="288950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5554980" y="268833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5609844" y="27432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story + trust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609844" y="299008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writes the 'why' (RAG)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friend · twin · AI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7127748" y="288950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7315200" y="268833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C7DB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370064" y="27432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+ learn ↻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370064" y="299008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UI · learns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adopt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74320" y="3675888"/>
            <a:ext cx="8595360" cy="548640"/>
          </a:xfrm>
          <a:prstGeom prst="roundRect">
            <a:avLst>
              <a:gd name="adj" fmla="val 10000"/>
            </a:avLst>
          </a:prstGeom>
          <a:solidFill>
            <a:srgbClr val="14110F"/>
          </a:solidFill>
          <a:ln/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457200" y="3730752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7DE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backbone   </a:t>
            </a:r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ECE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generative AI · no-fabrication guardrail (RAG over real facts) · Groq LLM + sentence-transformer embeddings — the rigor that made the research trustworthy makes the feature trustworthy.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274320" y="43159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cases handled — hallucination → RAG grounding · cold-start → AI story works alone · story fatigue → one glanceable line, full story on tap.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49" name="Text 47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they discover — or just get served?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32688"/>
            <a:ext cx="8595360" cy="1024128"/>
          </a:xfrm>
          <a:prstGeom prst="roundRect">
            <a:avLst>
              <a:gd name="adj" fmla="val 625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2412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NORTH STAR · MEANINGFUL DISCOVERY RATE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weekly listening on newly-adopted artists ÷ total.  ~0 → </a:t>
            </a:r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(M3) → 60% (M12)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 Un-gameable — a discovery counts only when </a:t>
            </a:r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SURFACED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(new to you) + </a:t>
            </a:r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TRIED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(played ≥30s) + </a:t>
            </a:r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(saved &amp; returned in 7d). Opening the feature and walking away is worth zero.</a:t>
            </a:r>
            <a:endParaRPr lang="en-US" sz="9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139696"/>
          <a:ext cx="859536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3703320"/>
                <a:gridCol w="1051560"/>
                <a:gridCol w="2880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matters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Story-attach try-rate — A/B: story vs no story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story, not the song, earns the play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New-artist play-through vs control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earliest demand signal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Lagging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New-artist save-rate · 7-day return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↑ by M3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adoption, not curiosity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Lagging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Taste breadth — distinct new artists / month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+30% M6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bubble is actually widening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E6B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Guardrail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Skip-rate · session time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E6B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flat/down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protect core listening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E6B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Guardrail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Unaided-exploration rate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E6B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are not building a crutch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74320" y="42062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Rollout — P1 (M0–3): shadow-test on 1% of Engaged Explorers · P2 (M3–6): 10% + guardrail gates · P3 (M6–12): all Premium if discovery-rate ↑ and skip-rate flat.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274320" y="4498848"/>
            <a:ext cx="8595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loop becomes a launchpad — Off Repeat doesn't chase better recs, it earns the play.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11" name="Text 8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We'd rather name how it fails than pretend it won't.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206240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088136"/>
            <a:ext cx="914400" cy="21945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88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417320" y="10698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 ≠ the real driver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20624" y="136245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Much 'won't press play' is mood &amp; effort, not missing trust — a story can add friction.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20624" y="16824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Validate the driver in Part-2 interviews; lean-in surfaces only.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960120"/>
            <a:ext cx="4206240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00600" y="1088136"/>
            <a:ext cx="914400" cy="21945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088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806440" y="10698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is fragile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809744" y="136245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salesy or slightly-wrong story and users tune the layer out for good.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809744" y="16824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RAG grounding + no-fabrication guardrail; style variety; sample QA.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74320" y="2130552"/>
            <a:ext cx="4206240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11480" y="2258568"/>
            <a:ext cx="914400" cy="21945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225856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17320" y="22402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Payola &amp; gaming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20624" y="253288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to inject promoted tracks; stream-farming the metric.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20624" y="28529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Firewall from promotion; reward saved + returned, never raw plays.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63440" y="2130552"/>
            <a:ext cx="4206240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00600" y="2258568"/>
            <a:ext cx="914400" cy="219456"/>
          </a:xfrm>
          <a:prstGeom prst="roundRect">
            <a:avLst>
              <a:gd name="adj" fmla="val 16667"/>
            </a:avLst>
          </a:prstGeom>
          <a:solidFill>
            <a:srgbClr val="C57211"/>
          </a:solidFill>
          <a:ln/>
        </p:spPr>
      </p:sp>
      <p:sp>
        <p:nvSpPr>
          <p:cNvPr id="24" name="Text 22"/>
          <p:cNvSpPr/>
          <p:nvPr/>
        </p:nvSpPr>
        <p:spPr>
          <a:xfrm>
            <a:off x="4800600" y="225856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5806440" y="22402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becomes a crutch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809744" y="253288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stop exploring unaided — a new trust proxy that solves nothing.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809744" y="28529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Measure unaided exploration; ease off narration as adoption grows.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74320" y="3300984"/>
            <a:ext cx="4206240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11480" y="3429000"/>
            <a:ext cx="914400" cy="219456"/>
          </a:xfrm>
          <a:prstGeom prst="roundRect">
            <a:avLst>
              <a:gd name="adj" fmla="val 16667"/>
            </a:avLst>
          </a:prstGeom>
          <a:solidFill>
            <a:srgbClr val="C57211"/>
          </a:solidFill>
          <a:ln/>
        </p:spPr>
      </p:sp>
      <p:sp>
        <p:nvSpPr>
          <p:cNvPr id="30" name="Text 28"/>
          <p:cNvSpPr/>
          <p:nvPr/>
        </p:nvSpPr>
        <p:spPr>
          <a:xfrm>
            <a:off x="411480" y="34290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417320" y="34107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 decay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20624" y="37033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first-try lift fades once the story feels normal.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20624" y="4023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Track 30/90-day adoption retention; refresh story styles.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663440" y="3300984"/>
            <a:ext cx="4206240" cy="1060704"/>
          </a:xfrm>
          <a:prstGeom prst="roundRect">
            <a:avLst>
              <a:gd name="adj" fmla="val 6034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800600" y="3429000"/>
            <a:ext cx="914400" cy="219456"/>
          </a:xfrm>
          <a:prstGeom prst="roundRect">
            <a:avLst>
              <a:gd name="adj" fmla="val 16667"/>
            </a:avLst>
          </a:prstGeom>
          <a:solidFill>
            <a:srgbClr val="C57211"/>
          </a:solidFill>
          <a:ln/>
        </p:spPr>
      </p:sp>
      <p:sp>
        <p:nvSpPr>
          <p:cNvPr id="36" name="Text 34"/>
          <p:cNvSpPr/>
          <p:nvPr/>
        </p:nvSpPr>
        <p:spPr>
          <a:xfrm>
            <a:off x="4800600" y="34290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5806440" y="34107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Cold-start / long tail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809744" y="37033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 metadata on the obscure tracks that matter most → hallucination risk.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809744" y="4023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Confidence-gate; safe fallback cues; enrich long-tail data.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74320" y="4407408"/>
            <a:ext cx="8595360" cy="310896"/>
          </a:xfrm>
          <a:prstGeom prst="roundRect">
            <a:avLst>
              <a:gd name="adj" fmla="val 14706"/>
            </a:avLst>
          </a:prstGeom>
          <a:solidFill>
            <a:srgbClr val="FBE9E7"/>
          </a:solidFill>
          <a:ln/>
        </p:spPr>
      </p:sp>
      <p:sp>
        <p:nvSpPr>
          <p:cNvPr id="41" name="Text 39"/>
          <p:cNvSpPr/>
          <p:nvPr/>
        </p:nvSpPr>
        <p:spPr>
          <a:xfrm>
            <a:off x="438912" y="4407408"/>
            <a:ext cx="8275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likely failure — </a:t>
            </a:r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 moves behavior in fewer moments than we hope. So we de-risk before building: validate the acceptance driver in interviews, ship only to lean-in moments, and design the feature to make itself unnecessary.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43" name="Text 41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 Repeat — Spotify Discovery (Top-Fellow format)</dc:title>
  <dc:subject>PptxGenJS Presentation</dc:subject>
  <dc:creator>Arjun</dc:creator>
  <cp:lastModifiedBy>Arjun</cp:lastModifiedBy>
  <cp:revision>1</cp:revision>
  <dcterms:created xsi:type="dcterms:W3CDTF">2026-07-04T19:17:10Z</dcterms:created>
  <dcterms:modified xsi:type="dcterms:W3CDTF">2026-07-04T19:17:10Z</dcterms:modified>
</cp:coreProperties>
</file>