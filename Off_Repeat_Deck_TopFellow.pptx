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active users (reported)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7860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subscribers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7316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6772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52120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45059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 PARADOX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24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owns one of the world's best recommenders — so the bottleneck was never finding new music. It's that engaged listeners won't act on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exploits familiarity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you listen, the tighter the 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Unfamiliar = unrewarded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trust a new pick, so users skip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187952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1056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backfires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heaviest users get the stalest discovery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0" y="2331720"/>
            <a:ext cx="3200400" cy="2286000"/>
          </a:xfrm>
          <a:prstGeom prst="roundRect">
            <a:avLst>
              <a:gd name="adj" fmla="val 28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52160" y="2450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2743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platform competes on recommendation accuracy. None has built the acceptance layer — a reason to press play on the unfamiliar.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52160" y="4114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gap is acceptance, not accuracy.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optimized accuracy. Nobody optimized acceptance.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ECOSYSTEM SOLVED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07008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252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accuracy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· Apple · YouTube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773936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8196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Natural-language playlists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482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· Prompted Playlist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340864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386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 context / credits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432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NOBODY SOLVED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33192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A reason to TRY the unfamiliar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712464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373989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Trust in a brand-new rec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133088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41605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Why THIS song, for YOU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29000" y="932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EXISTING FIX FALLS SHORT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2070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566160" y="12801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/ Daylist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66160" y="15361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Personalizes you into a tighter loop — diversity drops over time.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429000" y="21214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566160" y="21945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/ Prompted Playlist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66160" y="24505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you ask, but still just serves — generic, not personal to your history.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29000" y="30358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566160" y="31089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 / Smart Shuffle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66160" y="33649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and reshuffles — gives no reason to care about a new track.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63640" y="96012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46520" y="10972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1389888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a solved problem. The unsolved problem is acceptance: users won't act on a recommendation they have no reason to trust.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unfamiliar arrives with no story and no signal, the safe move is to skip — back to the familiar.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46520" y="3611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don't need better recs. They need a reason to say yes to the ones they already get.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people. We analyzed 7,296 reviews.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= RESEARCH AT SCALE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 · YouTube · Community → one grounded pipeline. Every claim cites a real review; no fabrication.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295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structured-labeled (LLM)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32095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 = stale / repetitive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6667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(from ★ ratings)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REAL USERS SAID (CITED)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1371600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66160" y="14356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“…it locks us into a comfortable but repetitive bubble.”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66160" y="19385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429000" y="2267712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66160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6160" y="2834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29000" y="3163824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66160" y="3227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66160" y="37307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960120"/>
            <a:ext cx="2560320" cy="3200400"/>
          </a:xfrm>
          <a:prstGeom prst="roundRect">
            <a:avLst>
              <a:gd name="adj" fmla="val 2500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4652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+ SECONDARY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Planned: 5–6 interviews with Engaged Explorers (Premium power users).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slot in verbatim quotes ]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46520" y="2423160"/>
            <a:ext cx="2286000" cy="0"/>
          </a:xfrm>
          <a:prstGeom prst="line">
            <a:avLst/>
          </a:prstGeom>
          <a:noFill/>
          <a:ln w="12700">
            <a:solidFill>
              <a:srgbClr val="D8E5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 Weekly cut genre diversity ~12% in 6 mo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LLMs/algorithms narrow taste as engagement rises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Personalization → homogenization (popularity bias)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2245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aren't failing to discover — they're refusing to accept.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they are — and the exact moment discovery breaks.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SEGMENTATION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74904" y="12618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Comfort Seeker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74904" y="16459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loves the loop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947672" y="1188720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02536" y="12618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Digger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02536" y="16459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self-discovers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0040" y="1975104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4904" y="20482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Repeater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new, no effort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947672" y="1975104"/>
            <a:ext cx="1572768" cy="731520"/>
          </a:xfrm>
          <a:prstGeom prst="roundRect">
            <a:avLst>
              <a:gd name="adj" fmla="val 875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47672" y="1975104"/>
            <a:ext cx="1572768" cy="731520"/>
          </a:xfrm>
          <a:prstGeom prst="roundRect">
            <a:avLst>
              <a:gd name="adj" fmla="val 8750"/>
            </a:avLst>
          </a:prstGeom>
          <a:ln w="31750">
            <a:solidFill>
              <a:srgbClr val="0E6B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02536" y="204825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Bubble-Trapped Explorer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02536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new · can't accept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20040" y="273405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Target   ·   openness →   ·   effort ↓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749040" y="960120"/>
            <a:ext cx="512064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13632" y="1133856"/>
            <a:ext cx="603504" cy="603504"/>
          </a:xfrm>
          <a:prstGeom prst="ellipse">
            <a:avLst/>
          </a:prstGeom>
          <a:solidFill>
            <a:srgbClr val="E7F6EC"/>
          </a:solidFill>
          <a:ln w="19050">
            <a:solidFill>
              <a:srgbClr val="1DB9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13632" y="1133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1772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 G.  </a:t>
            </a:r>
            <a:pPr indent="0" marL="0"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27 · Bengaluru · “Bubble-Trapped Explorer”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17720" y="142646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4 yrs · 15 hrs/wk · 2,000+ saved songs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913632" y="1810512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JTBD  </a:t>
            </a:r>
            <a:pPr indent="0" marL="0">
              <a:lnSpc>
                <a:spcPct val="106000"/>
              </a:lnSpc>
              <a:buNone/>
            </a:pPr>
            <a:r>
              <a:rPr lang="en-US" sz="90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“Hear something genuinely new I'll love — without gambling my limited listening time on a skip.”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913632" y="2322576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</a:t>
            </a:r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feel like a rerun of his history · no reason to trust the unfamiliar · retreats to the same playlists.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296265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JOURNEY — AND WHERE IT BREAKS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47472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6616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56616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31" name="Text 29"/>
          <p:cNvSpPr/>
          <p:nvPr/>
        </p:nvSpPr>
        <p:spPr>
          <a:xfrm>
            <a:off x="356616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Hopeful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979676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039112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112264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121408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121408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37" name="Text 35"/>
          <p:cNvSpPr/>
          <p:nvPr/>
        </p:nvSpPr>
        <p:spPr>
          <a:xfrm>
            <a:off x="2121408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744468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803904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3877056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86200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signal, no story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886200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43" name="Text 41"/>
          <p:cNvSpPr/>
          <p:nvPr/>
        </p:nvSpPr>
        <p:spPr>
          <a:xfrm>
            <a:off x="3886200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Wary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509260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568696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41848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50992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trust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650992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0E6B37"/>
          </a:solidFill>
          <a:ln/>
        </p:spPr>
      </p:sp>
      <p:sp>
        <p:nvSpPr>
          <p:cNvPr id="49" name="Text 47"/>
          <p:cNvSpPr/>
          <p:nvPr/>
        </p:nvSpPr>
        <p:spPr>
          <a:xfrm>
            <a:off x="5650992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Retreat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74052" y="3694176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7333488" y="3236976"/>
            <a:ext cx="1700784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406640" y="3291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Familiar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415784" y="35478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tightens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415784" y="3877056"/>
            <a:ext cx="1536192" cy="219456"/>
          </a:xfrm>
          <a:prstGeom prst="roundRect">
            <a:avLst>
              <a:gd name="adj" fmla="val 25000"/>
            </a:avLst>
          </a:prstGeom>
          <a:solidFill>
            <a:srgbClr val="E7F6EC"/>
          </a:solidFill>
          <a:ln/>
        </p:spPr>
      </p:sp>
      <p:sp>
        <p:nvSpPr>
          <p:cNvPr id="55" name="Text 53"/>
          <p:cNvSpPr/>
          <p:nvPr/>
        </p:nvSpPr>
        <p:spPr>
          <a:xfrm>
            <a:off x="7415784" y="387705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74320" y="4279392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 the silent skip at stage 4 — </a:t>
            </a:r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unfamiliar arrives with no story, no reason to risk a listen; the loop tightens and the algorithm reads the skip as 'dislike,' narrowing further.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58" name="Text 56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accuracy. It's acceptance.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arrive with no reason to trust them → users skip the unfamiliar and retreat to the familiar.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6324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8211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feels 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8211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who want new music but feel trapped.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319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users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love, without gambling a skip.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6324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8211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Spotify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Re-ignite discovery for the highest-LTV cohort → retention + session depth.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319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know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reviews: stale/repetitive = #1 discovery complaint; cross-source, cross-segment.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06324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8211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8211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accuracy &amp; widens the acceptance gap. No one owns it yet.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960120"/>
            <a:ext cx="292608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80760" y="10607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SIZING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1371600"/>
            <a:ext cx="2286000" cy="2286000"/>
          </a:xfrm>
          <a:prstGeom prst="ellipse">
            <a:avLst/>
          </a:prstGeom>
          <a:solidFill>
            <a:srgbClr val="E7F6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1783080"/>
            <a:ext cx="1691640" cy="1691640"/>
          </a:xfrm>
          <a:prstGeom prst="ellipse">
            <a:avLst/>
          </a:prstGeom>
          <a:solidFill>
            <a:srgbClr val="CDEBD7"/>
          </a:solidFill>
          <a:ln/>
        </p:spPr>
      </p:sp>
      <p:sp>
        <p:nvSpPr>
          <p:cNvPr id="26" name="Shape 24"/>
          <p:cNvSpPr/>
          <p:nvPr/>
        </p:nvSpPr>
        <p:spPr>
          <a:xfrm>
            <a:off x="6629400" y="2286000"/>
            <a:ext cx="1097280" cy="109728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1463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listeners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~263M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25420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</a:t>
            </a:r>
            <a:endParaRPr lang="en-US" sz="8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080760" y="38862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Engaged Explorers: highest LTV, feel the pain most, most articulate. Win them → expand to all Premium.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break the bubble. Only one earns trust.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Steerable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319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tell discovery what you want in plain language. Powerful — but Spotify already shipped Prompted Playlist / AI DJ.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vouching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4203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VOUCH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4203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'liked by a friend'. Strong trust — but Spotify's social graph is thin; cold-start kills it.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9087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 / PERSUADE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69087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personalized story (why YOU'll like it) + trust layer. Earns acceptance.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10896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 Repeat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insight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earned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feasibility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moat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663440" y="3108960"/>
            <a:ext cx="4206240" cy="1463040"/>
          </a:xfrm>
          <a:prstGeom prst="roundRect">
            <a:avLst>
              <a:gd name="adj" fmla="val 437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46320" y="32004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46320" y="3456432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Keeps the user the decider — supports judgment, doesn't replace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the real failure: the unfamiliar arriving with no reason to try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Stakes-adaptive: light for casual, rich for high-intent discovery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 moat: a personalized taste-narrative profile rivals can't copy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21" name="Text 1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the friend who puts you on. Generative AI writes a unique, grounded reason to press play for every track — impossible to template or hand-author at scale. Recommendation picks the song; AI earns the play. Trust scales in three layers: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2103120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1488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Real friend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3682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“Liked by Nitya” — strongest trust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2670048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715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7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◑  AI taste-twin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935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“Popular with your taste”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3236976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32826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AI story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5021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— works with zero friends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393192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workflow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960120"/>
            <a:ext cx="5166360" cy="3611880"/>
          </a:xfrm>
          <a:prstGeom prst="roundRect">
            <a:avLst>
              <a:gd name="adj" fmla="val 2532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31920" y="1097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Off Repeat — for someone who loves Tame Impala + lo-fi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1463040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15270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Crumb — “Locket”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98080" y="1536192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0" y="15361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069080" y="174650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Brooklyn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69080" y="19202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woozy Tame-Impala basslines you love — from a Brooklyn band you've never played.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069080" y="21579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Liked by Nitya · your friend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931920" y="2450592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25" name="Text 23"/>
          <p:cNvSpPr/>
          <p:nvPr/>
        </p:nvSpPr>
        <p:spPr>
          <a:xfrm>
            <a:off x="4069080" y="2514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High Club — “Homage”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498080" y="2523744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2523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069080" y="27340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Los Angeles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69080" y="29077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lush, jazzy psychedelia — that dreamy haze you love, at a Sunday tempo.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69080" y="3145536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Popular with your taste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931920" y="3438144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32" name="Text 30"/>
          <p:cNvSpPr/>
          <p:nvPr/>
        </p:nvSpPr>
        <p:spPr>
          <a:xfrm>
            <a:off x="4069080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I Trust — “Show Me How”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98080" y="3511296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35112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69080" y="3721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indie · Montreal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69080" y="38953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hushed lo-fi groove you keep on repeat — still way under the radar.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69080" y="413308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9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Picked for you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9" name="Text 3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grounded engine, twice — to find the problem, then fix it.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AI REVIEW ENGINE — HOW WE FOUND THE PROBLEM (RESEARCH AT SCALE)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918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918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· Community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84708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03454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8940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8940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per-review LLM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(Groq)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60730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79476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962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+ retrieve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962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MiniLM 384-d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6752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55498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0984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0984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grounded, cited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· no fabrication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12774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FEAD8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7006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Insight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7006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pain = stale/repeat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gap is ACCEPTANCE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4320" y="210312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the finding is the product spec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 — HOW WE ACT ON IT (LIVE, PER USER)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918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history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 · friends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4708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203454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08940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vector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8940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what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love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60730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79476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4962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+ filter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84962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novel, long-tail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known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36752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55498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0984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 + trust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0984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the 'why' (RAG)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 · twin · AI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12774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31520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7DB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37006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+ learn ↻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37006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UI · learns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adopt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74320" y="3675888"/>
            <a:ext cx="8595360" cy="548640"/>
          </a:xfrm>
          <a:prstGeom prst="roundRect">
            <a:avLst>
              <a:gd name="adj" fmla="val 10000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57200" y="373075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7DE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backbone   </a:t>
            </a:r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ECE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generative AI · no-fabrication guardrail (RAG over real facts) · Groq LLM + sentence-transformer embeddings — the rigor that made the research trustworthy makes the feature trustworthy.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4320" y="43159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 — hallucination → RAG grounding · cold-start → AI story works alone · story fatigue → one glanceable line, full story on tap.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9" name="Text 4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they discover — or just get served?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32688"/>
            <a:ext cx="8595360" cy="1024128"/>
          </a:xfrm>
          <a:prstGeom prst="roundRect">
            <a:avLst>
              <a:gd name="adj" fmla="val 625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 · MEANINGFUL DISCOVERY RATE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weekly listening on newly-adopted artists ÷ total.  ~0 →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Un-gameable — a discovery counts only when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SURFACED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(new to you) +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TRIED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(played ≥30s) +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(saved &amp; returned in 7d). Opening the feature and walking away is worth zero.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139696"/>
          <a:ext cx="8595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703320"/>
                <a:gridCol w="1051560"/>
                <a:gridCol w="2880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Story-attach try-rate — A/B: story vs no story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story, not the song, earns the play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New-artist play-through vs control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earliest demand signal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New-artist save-rate · 7-day return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 by M3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adoption, not curiosity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breadth — distinct new artists / month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M6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bubble is actually widening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Skip-rate · session 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flat/down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 core listening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Unaided-exploration rate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are not building a crutch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42062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— P1 (M0–3): shadow-test on 1% of Engaged Explorers · P2 (M3–6): 10% + guardrail gates · P3 (M6–12): all Premium if discovery-rate ↑ and skip-rate flat.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74320" y="4498848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becomes a launchpad — Off Repeat doesn't chase better recs, it earns the play.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11" name="Text 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We'd rather name how it fails than pretend it won't.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88136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88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417320" y="10698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≠ the real driver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20624" y="13624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'won't press play' is mood &amp; effort, not missing trust — a story can add friction.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0624" y="16824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Validate the driver in Part-2 interviews; lean-in surfaces only.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088136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088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806440" y="10698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fragile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09744" y="13624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salesy or slightly-wrong story and users tune the layer out for good.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09744" y="16824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RAG grounding + no-fabrication guardrail; style variety; sample QA.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130552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258568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258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17320" y="22402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Payola &amp; gaming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0624" y="2532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to inject promoted tracks; stream-farming the metric.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20624" y="2852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Firewall from promotion; reward saved + returned, never raw plays.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130552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00600" y="2258568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2258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806440" y="22402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becomes a crutch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09744" y="2532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stop exploring unaided — a new trust proxy that solves nothing.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9744" y="2852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Measure unaided exploration; ease off narration as adoption grows.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3300984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1480" y="3429000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3429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17320" y="3410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decay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0624" y="37033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first-try lift fades once the story feels normal.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20624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Track 30/90-day adoption retention; refresh story styles.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3300984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00600" y="3429000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429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806440" y="3410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/ long tail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9744" y="37033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metadata on the obscure tracks that matter most → hallucination risk.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9744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Confidence-gate; safe fallback cues; enrich long-tail data.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4407408"/>
            <a:ext cx="8595360" cy="310896"/>
          </a:xfrm>
          <a:prstGeom prst="roundRect">
            <a:avLst>
              <a:gd name="adj" fmla="val 14706"/>
            </a:avLst>
          </a:prstGeom>
          <a:solidFill>
            <a:srgbClr val="FBE9E7"/>
          </a:solidFill>
          <a:ln/>
        </p:spPr>
      </p:sp>
      <p:sp>
        <p:nvSpPr>
          <p:cNvPr id="41" name="Text 39"/>
          <p:cNvSpPr/>
          <p:nvPr/>
        </p:nvSpPr>
        <p:spPr>
          <a:xfrm>
            <a:off x="438912" y="4407408"/>
            <a:ext cx="8275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likely failure —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moves behavior in fewer moments than we hope. So we de-risk before building: validate the acceptance driver in interviews, ship only to lean-in moments, and design the feature to make itself unnecessary.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(Top-Fellow format)</dc:title>
  <dc:subject>PptxGenJS Presentation</dc:subject>
  <dc:creator>Arjun</dc:creator>
  <cp:lastModifiedBy>Arjun</cp:lastModifiedBy>
  <cp:revision>1</cp:revision>
  <dcterms:created xsi:type="dcterms:W3CDTF">2026-07-04T19:25:14Z</dcterms:created>
  <dcterms:modified xsi:type="dcterms:W3CDTF">2026-07-04T19:25:14Z</dcterms:modified>
</cp:coreProperties>
</file>